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12192000" cy="6858000"/>
  <p:embeddedFontLst>
    <p:embeddedFont>
      <p:font typeface="Bookman Old Style" panose="02050604050505020204" pitchFamily="18"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85F335-6747-4A80-B876-EE1BD4AB2B20}" v="1" dt="2026-09-29T01:42:20.194"/>
  </p1510:revLst>
</p1510:revInfo>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48"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1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1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9/29/2026</a:t>
            </a:fld>
            <a:endParaRPr lang="en-US"/>
          </a:p>
        </p:txBody>
      </p:sp>
      <p:sp>
        <p:nvSpPr>
          <p:cNvPr id="104871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1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1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6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6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63" name="Date Placeholder 3"/>
          <p:cNvSpPr>
            <a:spLocks noGrp="1"/>
          </p:cNvSpPr>
          <p:nvPr>
            <p:ph type="dt" sz="half" idx="10"/>
          </p:nvPr>
        </p:nvSpPr>
        <p:spPr/>
        <p:txBody>
          <a:bodyPr/>
          <a:lstStyle/>
          <a:p>
            <a:r>
              <a:rPr lang="en-US"/>
              <a:t>Date</a:t>
            </a:r>
          </a:p>
        </p:txBody>
      </p:sp>
      <p:sp>
        <p:nvSpPr>
          <p:cNvPr id="1048664" name="Footer Placeholder 4"/>
          <p:cNvSpPr>
            <a:spLocks noGrp="1"/>
          </p:cNvSpPr>
          <p:nvPr>
            <p:ph type="ftr" sz="quarter" idx="11"/>
          </p:nvPr>
        </p:nvSpPr>
        <p:spPr/>
        <p:txBody>
          <a:bodyPr/>
          <a:lstStyle/>
          <a:p>
            <a:r>
              <a:rPr lang="en-US"/>
              <a:t>Footer</a:t>
            </a:r>
          </a:p>
        </p:txBody>
      </p:sp>
      <p:sp>
        <p:nvSpPr>
          <p:cNvPr id="1048665" name="Slide Number Placeholder 5"/>
          <p:cNvSpPr>
            <a:spLocks noGrp="1"/>
          </p:cNvSpPr>
          <p:nvPr>
            <p:ph type="sldNum" sz="quarter" idx="12"/>
          </p:nvPr>
        </p:nvSpPr>
        <p:spPr/>
        <p:txBody>
          <a:bodyPr/>
          <a:lstStyle/>
          <a:p>
            <a:r>
              <a:rPr lang="en-US"/>
              <a:t>&lt;#&gt;</a:t>
            </a:r>
          </a:p>
        </p:txBody>
      </p:sp>
      <p:pic>
        <p:nvPicPr>
          <p:cNvPr id="2097205" name="Picture 6"/>
          <p:cNvPicPr>
            <a:picLocks noChangeAspect="1"/>
          </p:cNvPicPr>
          <p:nvPr userDrawn="1"/>
        </p:nvPicPr>
        <p:blipFill>
          <a:blip r:embed="rId2"/>
          <a:stretch>
            <a:fillRect/>
          </a:stretch>
        </p:blipFill>
        <p:spPr>
          <a:xfrm>
            <a:off x="2567608" y="592088"/>
            <a:ext cx="7609140" cy="1008112"/>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a:t>Click to edit Master title style</a:t>
            </a:r>
            <a:endParaRPr lang="en-IN"/>
          </a:p>
        </p:txBody>
      </p:sp>
      <p:sp>
        <p:nvSpPr>
          <p:cNvPr id="1048672"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3" name="Date Placeholder 3"/>
          <p:cNvSpPr>
            <a:spLocks noGrp="1"/>
          </p:cNvSpPr>
          <p:nvPr>
            <p:ph type="dt" sz="half" idx="10"/>
          </p:nvPr>
        </p:nvSpPr>
        <p:spPr/>
        <p:txBody>
          <a:bodyPr/>
          <a:lstStyle/>
          <a:p>
            <a:fld id="{A0623D07-B41D-4865-9117-A59235B241FC}" type="datetime1">
              <a:rPr lang="en-US" smtClean="0"/>
              <a:t>9/29/2026</a:t>
            </a:fld>
            <a:endParaRPr lang="en-US"/>
          </a:p>
        </p:txBody>
      </p:sp>
      <p:sp>
        <p:nvSpPr>
          <p:cNvPr id="1048674" name="Footer Placeholder 4"/>
          <p:cNvSpPr>
            <a:spLocks noGrp="1"/>
          </p:cNvSpPr>
          <p:nvPr>
            <p:ph type="ftr" sz="quarter" idx="11"/>
          </p:nvPr>
        </p:nvSpPr>
        <p:spPr/>
        <p:txBody>
          <a:bodyPr/>
          <a:lstStyle/>
          <a:p>
            <a:r>
              <a:rPr lang="en-US"/>
              <a:t>DL&amp;CO                                                                G.LAVARAJU, Associate Professor, CSE</a:t>
            </a:r>
          </a:p>
        </p:txBody>
      </p:sp>
      <p:sp>
        <p:nvSpPr>
          <p:cNvPr id="1048675" name="Slide Number Placeholder 5"/>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87"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88"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48689" name="Date Placeholder 3"/>
          <p:cNvSpPr>
            <a:spLocks noGrp="1"/>
          </p:cNvSpPr>
          <p:nvPr>
            <p:ph type="dt" sz="half" idx="10"/>
          </p:nvPr>
        </p:nvSpPr>
        <p:spPr/>
        <p:txBody>
          <a:bodyPr/>
          <a:lstStyle/>
          <a:p>
            <a:fld id="{A0623D07-B41D-4865-9117-A59235B241FC}" type="datetime1">
              <a:rPr lang="en-US" smtClean="0"/>
              <a:t>9/29/2026</a:t>
            </a:fld>
            <a:endParaRPr lang="en-US"/>
          </a:p>
        </p:txBody>
      </p:sp>
      <p:sp>
        <p:nvSpPr>
          <p:cNvPr id="1048690" name="Footer Placeholder 4"/>
          <p:cNvSpPr>
            <a:spLocks noGrp="1"/>
          </p:cNvSpPr>
          <p:nvPr>
            <p:ph type="ftr" sz="quarter" idx="11"/>
          </p:nvPr>
        </p:nvSpPr>
        <p:spPr/>
        <p:txBody>
          <a:bodyPr/>
          <a:lstStyle/>
          <a:p>
            <a:r>
              <a:rPr lang="en-US"/>
              <a:t>DL&amp;CO                                                                G.LAVARAJU, Associate Professor, CSE</a:t>
            </a:r>
          </a:p>
        </p:txBody>
      </p:sp>
      <p:sp>
        <p:nvSpPr>
          <p:cNvPr id="1048691" name="Slide Number Placeholder 5"/>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92" name="Title 1"/>
          <p:cNvSpPr>
            <a:spLocks noGrp="1"/>
          </p:cNvSpPr>
          <p:nvPr>
            <p:ph type="title"/>
          </p:nvPr>
        </p:nvSpPr>
        <p:spPr/>
        <p:txBody>
          <a:bodyPr/>
          <a:lstStyle/>
          <a:p>
            <a:r>
              <a:rPr lang="en-US"/>
              <a:t>Click to edit Master title style</a:t>
            </a:r>
            <a:endParaRPr lang="en-IN"/>
          </a:p>
        </p:txBody>
      </p:sp>
      <p:sp>
        <p:nvSpPr>
          <p:cNvPr id="104869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5" name="Date Placeholder 4"/>
          <p:cNvSpPr>
            <a:spLocks noGrp="1"/>
          </p:cNvSpPr>
          <p:nvPr>
            <p:ph type="dt" sz="half" idx="10"/>
          </p:nvPr>
        </p:nvSpPr>
        <p:spPr/>
        <p:txBody>
          <a:bodyPr/>
          <a:lstStyle/>
          <a:p>
            <a:fld id="{A0623D07-B41D-4865-9117-A59235B241FC}" type="datetime1">
              <a:rPr lang="en-US" smtClean="0"/>
              <a:t>9/29/2026</a:t>
            </a:fld>
            <a:endParaRPr lang="en-US"/>
          </a:p>
        </p:txBody>
      </p:sp>
      <p:sp>
        <p:nvSpPr>
          <p:cNvPr id="1048696" name="Footer Placeholder 5"/>
          <p:cNvSpPr>
            <a:spLocks noGrp="1"/>
          </p:cNvSpPr>
          <p:nvPr>
            <p:ph type="ftr" sz="quarter" idx="11"/>
          </p:nvPr>
        </p:nvSpPr>
        <p:spPr/>
        <p:txBody>
          <a:bodyPr/>
          <a:lstStyle/>
          <a:p>
            <a:r>
              <a:rPr lang="en-US"/>
              <a:t>DL&amp;CO                                                                G.LAVARAJU, Associate Professor, CSE</a:t>
            </a:r>
          </a:p>
        </p:txBody>
      </p:sp>
      <p:sp>
        <p:nvSpPr>
          <p:cNvPr id="1048697" name="Slide Number Placeholder 6"/>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8"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99"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700"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1"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702"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3" name="Date Placeholder 6"/>
          <p:cNvSpPr>
            <a:spLocks noGrp="1"/>
          </p:cNvSpPr>
          <p:nvPr>
            <p:ph type="dt" sz="half" idx="10"/>
          </p:nvPr>
        </p:nvSpPr>
        <p:spPr/>
        <p:txBody>
          <a:bodyPr/>
          <a:lstStyle/>
          <a:p>
            <a:fld id="{A0623D07-B41D-4865-9117-A59235B241FC}" type="datetime1">
              <a:rPr lang="en-US" smtClean="0"/>
              <a:t>9/29/2026</a:t>
            </a:fld>
            <a:endParaRPr lang="en-US"/>
          </a:p>
        </p:txBody>
      </p:sp>
      <p:sp>
        <p:nvSpPr>
          <p:cNvPr id="1048704" name="Footer Placeholder 7"/>
          <p:cNvSpPr>
            <a:spLocks noGrp="1"/>
          </p:cNvSpPr>
          <p:nvPr>
            <p:ph type="ftr" sz="quarter" idx="11"/>
          </p:nvPr>
        </p:nvSpPr>
        <p:spPr/>
        <p:txBody>
          <a:bodyPr/>
          <a:lstStyle/>
          <a:p>
            <a:r>
              <a:rPr lang="en-US"/>
              <a:t>DL&amp;CO                                                                G.LAVARAJU, Associate Professor, CSE</a:t>
            </a:r>
          </a:p>
        </p:txBody>
      </p:sp>
      <p:sp>
        <p:nvSpPr>
          <p:cNvPr id="1048705" name="Slide Number Placeholder 8"/>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Date Placeholder 2"/>
          <p:cNvSpPr>
            <a:spLocks noGrp="1"/>
          </p:cNvSpPr>
          <p:nvPr>
            <p:ph type="dt" sz="half" idx="10"/>
          </p:nvPr>
        </p:nvSpPr>
        <p:spPr/>
        <p:txBody>
          <a:bodyPr/>
          <a:lstStyle/>
          <a:p>
            <a:fld id="{A0623D07-B41D-4865-9117-A59235B241FC}" type="datetime1">
              <a:rPr lang="en-US" smtClean="0"/>
              <a:t>9/29/2026</a:t>
            </a:fld>
            <a:endParaRPr lang="en-US"/>
          </a:p>
        </p:txBody>
      </p:sp>
      <p:sp>
        <p:nvSpPr>
          <p:cNvPr id="1048583" name="Footer Placeholder 3"/>
          <p:cNvSpPr>
            <a:spLocks noGrp="1"/>
          </p:cNvSpPr>
          <p:nvPr>
            <p:ph type="ftr" sz="quarter" idx="11"/>
          </p:nvPr>
        </p:nvSpPr>
        <p:spPr/>
        <p:txBody>
          <a:bodyPr/>
          <a:lstStyle/>
          <a:p>
            <a:r>
              <a:rPr lang="en-US"/>
              <a:t>DL&amp;CO                                                                G.LAVARAJU, Associate Professor, CSE</a:t>
            </a:r>
          </a:p>
        </p:txBody>
      </p:sp>
      <p:sp>
        <p:nvSpPr>
          <p:cNvPr id="1048584" name="Slide Number Placeholder 4"/>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32" name="Date Placeholder 1"/>
          <p:cNvSpPr>
            <a:spLocks noGrp="1"/>
          </p:cNvSpPr>
          <p:nvPr>
            <p:ph type="dt" sz="half" idx="10"/>
          </p:nvPr>
        </p:nvSpPr>
        <p:spPr/>
        <p:txBody>
          <a:bodyPr/>
          <a:lstStyle/>
          <a:p>
            <a:fld id="{B13D2877-58CC-4844-975B-B8D6496C43E9}" type="datetime1">
              <a:rPr lang="en-US" smtClean="0"/>
              <a:t>9/29/2026</a:t>
            </a:fld>
            <a:endParaRPr lang="en-US"/>
          </a:p>
        </p:txBody>
      </p:sp>
      <p:sp>
        <p:nvSpPr>
          <p:cNvPr id="1048633" name="Footer Placeholder 2"/>
          <p:cNvSpPr>
            <a:spLocks noGrp="1"/>
          </p:cNvSpPr>
          <p:nvPr>
            <p:ph type="ftr" sz="quarter" idx="11"/>
          </p:nvPr>
        </p:nvSpPr>
        <p:spPr/>
        <p:txBody>
          <a:bodyPr/>
          <a:lstStyle/>
          <a:p>
            <a:r>
              <a:rPr lang="en-US"/>
              <a:t>DL&amp;CO                                                                G.LAVARAJU, Associate Professor, CSE</a:t>
            </a:r>
          </a:p>
        </p:txBody>
      </p:sp>
      <p:sp>
        <p:nvSpPr>
          <p:cNvPr id="1048634" name="Slide Number Placeholder 3"/>
          <p:cNvSpPr>
            <a:spLocks noGrp="1"/>
          </p:cNvSpPr>
          <p:nvPr>
            <p:ph type="sldNum" sz="quarter" idx="12"/>
          </p:nvPr>
        </p:nvSpPr>
        <p:spPr/>
        <p:txBody>
          <a:bodyPr/>
          <a:lstStyle/>
          <a:p>
            <a:fld id="{D9C5B093-D3DD-4808-813A-F58BF8E67773}" type="slidenum">
              <a:rPr lang="en-IN" smtClean="0"/>
              <a:t>‹#›</a:t>
            </a:fld>
            <a:endParaRPr lang="en-IN"/>
          </a:p>
        </p:txBody>
      </p:sp>
      <p:pic>
        <p:nvPicPr>
          <p:cNvPr id="2097178" name="Picture 2"/>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0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0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709" name="Date Placeholder 4"/>
          <p:cNvSpPr>
            <a:spLocks noGrp="1"/>
          </p:cNvSpPr>
          <p:nvPr>
            <p:ph type="dt" sz="half" idx="10"/>
          </p:nvPr>
        </p:nvSpPr>
        <p:spPr/>
        <p:txBody>
          <a:bodyPr/>
          <a:lstStyle/>
          <a:p>
            <a:fld id="{A0623D07-B41D-4865-9117-A59235B241FC}" type="datetime1">
              <a:rPr lang="en-US" smtClean="0"/>
              <a:t>9/29/2026</a:t>
            </a:fld>
            <a:endParaRPr lang="en-US"/>
          </a:p>
        </p:txBody>
      </p:sp>
      <p:sp>
        <p:nvSpPr>
          <p:cNvPr id="1048710" name="Footer Placeholder 5"/>
          <p:cNvSpPr>
            <a:spLocks noGrp="1"/>
          </p:cNvSpPr>
          <p:nvPr>
            <p:ph type="ftr" sz="quarter" idx="11"/>
          </p:nvPr>
        </p:nvSpPr>
        <p:spPr/>
        <p:txBody>
          <a:bodyPr/>
          <a:lstStyle/>
          <a:p>
            <a:r>
              <a:rPr lang="en-US"/>
              <a:t>DL&amp;CO                                                                G.LAVARAJU, Associate Professor, CSE</a:t>
            </a:r>
          </a:p>
        </p:txBody>
      </p:sp>
      <p:sp>
        <p:nvSpPr>
          <p:cNvPr id="1048711" name="Slide Number Placeholder 6"/>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77"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7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679" name="Date Placeholder 4"/>
          <p:cNvSpPr>
            <a:spLocks noGrp="1"/>
          </p:cNvSpPr>
          <p:nvPr>
            <p:ph type="dt" sz="half" idx="10"/>
          </p:nvPr>
        </p:nvSpPr>
        <p:spPr/>
        <p:txBody>
          <a:bodyPr/>
          <a:lstStyle/>
          <a:p>
            <a:fld id="{A0623D07-B41D-4865-9117-A59235B241FC}" type="datetime1">
              <a:rPr lang="en-US" smtClean="0"/>
              <a:t>9/29/2026</a:t>
            </a:fld>
            <a:endParaRPr lang="en-US"/>
          </a:p>
        </p:txBody>
      </p:sp>
      <p:sp>
        <p:nvSpPr>
          <p:cNvPr id="1048680" name="Footer Placeholder 5"/>
          <p:cNvSpPr>
            <a:spLocks noGrp="1"/>
          </p:cNvSpPr>
          <p:nvPr>
            <p:ph type="ftr" sz="quarter" idx="11"/>
          </p:nvPr>
        </p:nvSpPr>
        <p:spPr/>
        <p:txBody>
          <a:bodyPr/>
          <a:lstStyle/>
          <a:p>
            <a:r>
              <a:rPr lang="en-US"/>
              <a:t>DL&amp;CO                                                                G.LAVARAJU, Associate Professor, CSE</a:t>
            </a:r>
          </a:p>
        </p:txBody>
      </p:sp>
      <p:sp>
        <p:nvSpPr>
          <p:cNvPr id="1048681" name="Slide Number Placeholder 6"/>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2" name="Title 1"/>
          <p:cNvSpPr>
            <a:spLocks noGrp="1"/>
          </p:cNvSpPr>
          <p:nvPr>
            <p:ph type="title"/>
          </p:nvPr>
        </p:nvSpPr>
        <p:spPr/>
        <p:txBody>
          <a:bodyPr/>
          <a:lstStyle/>
          <a:p>
            <a:r>
              <a:rPr lang="en-US"/>
              <a:t>Click to edit Master title style</a:t>
            </a:r>
            <a:endParaRPr lang="en-IN"/>
          </a:p>
        </p:txBody>
      </p:sp>
      <p:sp>
        <p:nvSpPr>
          <p:cNvPr id="104868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4" name="Date Placeholder 3"/>
          <p:cNvSpPr>
            <a:spLocks noGrp="1"/>
          </p:cNvSpPr>
          <p:nvPr>
            <p:ph type="dt" sz="half" idx="10"/>
          </p:nvPr>
        </p:nvSpPr>
        <p:spPr/>
        <p:txBody>
          <a:bodyPr/>
          <a:lstStyle/>
          <a:p>
            <a:fld id="{A0623D07-B41D-4865-9117-A59235B241FC}" type="datetime1">
              <a:rPr lang="en-US" smtClean="0"/>
              <a:t>9/29/2026</a:t>
            </a:fld>
            <a:endParaRPr lang="en-US"/>
          </a:p>
        </p:txBody>
      </p:sp>
      <p:sp>
        <p:nvSpPr>
          <p:cNvPr id="1048685" name="Footer Placeholder 4"/>
          <p:cNvSpPr>
            <a:spLocks noGrp="1"/>
          </p:cNvSpPr>
          <p:nvPr>
            <p:ph type="ftr" sz="quarter" idx="11"/>
          </p:nvPr>
        </p:nvSpPr>
        <p:spPr/>
        <p:txBody>
          <a:bodyPr/>
          <a:lstStyle/>
          <a:p>
            <a:r>
              <a:rPr lang="en-US"/>
              <a:t>DL&amp;CO                                                                G.LAVARAJU, Associate Professor, CSE</a:t>
            </a:r>
          </a:p>
        </p:txBody>
      </p:sp>
      <p:sp>
        <p:nvSpPr>
          <p:cNvPr id="1048686" name="Slide Number Placeholder 5"/>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66"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67"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8" name="Date Placeholder 3"/>
          <p:cNvSpPr>
            <a:spLocks noGrp="1"/>
          </p:cNvSpPr>
          <p:nvPr>
            <p:ph type="dt" sz="half" idx="10"/>
          </p:nvPr>
        </p:nvSpPr>
        <p:spPr/>
        <p:txBody>
          <a:bodyPr/>
          <a:lstStyle/>
          <a:p>
            <a:fld id="{A0623D07-B41D-4865-9117-A59235B241FC}" type="datetime1">
              <a:rPr lang="en-US" smtClean="0"/>
              <a:t>9/29/2026</a:t>
            </a:fld>
            <a:endParaRPr lang="en-US"/>
          </a:p>
        </p:txBody>
      </p:sp>
      <p:sp>
        <p:nvSpPr>
          <p:cNvPr id="1048669" name="Footer Placeholder 4"/>
          <p:cNvSpPr>
            <a:spLocks noGrp="1"/>
          </p:cNvSpPr>
          <p:nvPr>
            <p:ph type="ftr" sz="quarter" idx="11"/>
          </p:nvPr>
        </p:nvSpPr>
        <p:spPr/>
        <p:txBody>
          <a:bodyPr/>
          <a:lstStyle/>
          <a:p>
            <a:r>
              <a:rPr lang="en-US"/>
              <a:t>DL&amp;CO                                                                G.LAVARAJU, Associate Professor, CSE</a:t>
            </a:r>
          </a:p>
        </p:txBody>
      </p:sp>
      <p:sp>
        <p:nvSpPr>
          <p:cNvPr id="1048670" name="Slide Number Placeholder 5"/>
          <p:cNvSpPr>
            <a:spLocks noGrp="1"/>
          </p:cNvSpPr>
          <p:nvPr>
            <p:ph type="sldNum" sz="quarter" idx="12"/>
          </p:nvPr>
        </p:nvSpPr>
        <p:spPr/>
        <p:txBody>
          <a:bodyPr/>
          <a:lstStyle/>
          <a:p>
            <a:fld id="{C0FA9481-3A84-418C-9FCC-1F8C2D158F80}" type="slidenum">
              <a:rPr lang="en-IN" smtClean="0"/>
              <a:t>‹#›</a:t>
            </a:fld>
            <a:endParaRPr lang="en-I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1048593" name="Content Placeholder 2"/>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a:t>Click to edit Master text styles</a:t>
            </a:r>
          </a:p>
        </p:txBody>
      </p:sp>
      <p:sp>
        <p:nvSpPr>
          <p:cNvPr id="1048594" name="Date Placeholder 2"/>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ADCE28B6-DBFE-4620-B95B-46D05A4EFA88}" type="datetime1">
              <a:rPr lang="en-US"/>
              <a:t>9/29/2026</a:t>
            </a:fld>
            <a:endParaRPr lang="en-US"/>
          </a:p>
        </p:txBody>
      </p:sp>
      <p:sp>
        <p:nvSpPr>
          <p:cNvPr id="1048595" name="Footer Placeholder 3"/>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pic>
        <p:nvPicPr>
          <p:cNvPr id="2097153" name="Picture 2"/>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1048596" name="Slide Number Placeholder 3"/>
          <p:cNvSpPr>
            <a:spLocks noGrp="1"/>
          </p:cNvSpPr>
          <p:nvPr>
            <p:ph type="sldNum" sz="quarter" idx="3"/>
          </p:nvPr>
        </p:nvSpPr>
        <p:spPr>
          <a:xfrm>
            <a:off x="10272464" y="6356350"/>
            <a:ext cx="1081336" cy="365125"/>
          </a:xfrm>
        </p:spPr>
        <p:txBody>
          <a:bodyPr rtlCol="0"/>
          <a:lstStyle/>
          <a:p>
            <a:fld id="{9359D16F-76A5-41BA-ADDD-CBF352B33DDD}" type="slidenum">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623D07-B41D-4865-9117-A59235B241FC}" type="datetime1">
              <a:rPr lang="en-US" smtClean="0"/>
              <a:t>9/29/2026</a:t>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DL&amp;CO                                                                G.LAVARAJU, Associate Professor, CSE</a:t>
            </a:r>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A9481-3A84-418C-9FCC-1F8C2D158F8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hyperlink" Target="https://en.cppreference.com/?utm_source=chatgpt.com" TargetMode="Externa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object 2"/>
          <p:cNvPicPr>
            <a:picLocks/>
          </p:cNvPicPr>
          <p:nvPr/>
        </p:nvPicPr>
        <p:blipFill>
          <a:blip r:embed="rId2" cstate="print"/>
          <a:stretch>
            <a:fillRect/>
          </a:stretch>
        </p:blipFill>
        <p:spPr>
          <a:xfrm>
            <a:off x="3790545" y="296771"/>
            <a:ext cx="4610910" cy="628649"/>
          </a:xfrm>
          <a:prstGeom prst="rect">
            <a:avLst/>
          </a:prstGeom>
        </p:spPr>
      </p:pic>
      <p:sp>
        <p:nvSpPr>
          <p:cNvPr id="1048585" name="TextBox 3"/>
          <p:cNvSpPr txBox="1"/>
          <p:nvPr/>
        </p:nvSpPr>
        <p:spPr>
          <a:xfrm>
            <a:off x="3176354" y="947476"/>
            <a:ext cx="6284156" cy="1015663"/>
          </a:xfrm>
          <a:prstGeom prst="rect">
            <a:avLst/>
          </a:prstGeom>
          <a:noFill/>
        </p:spPr>
        <p:txBody>
          <a:bodyPr wrap="none" rtlCol="0">
            <a:spAutoFit/>
          </a:bodyPr>
          <a:lstStyle/>
          <a:p>
            <a:r>
              <a:rPr lang="en-IN" sz="2000" spc="-10">
                <a:solidFill>
                  <a:srgbClr val="002060"/>
                </a:solidFill>
                <a:latin typeface="Times New Roman" panose="02020603050405020304" pitchFamily="18" charset="0"/>
                <a:cs typeface="Times New Roman" panose="02020603050405020304" pitchFamily="18" charset="0"/>
              </a:rPr>
              <a:t>OBJECT ORIENTED PROGRAMMING THROUGH C++</a:t>
            </a:r>
          </a:p>
          <a:p>
            <a:r>
              <a:rPr lang="en-IN" sz="2000" spc="-10">
                <a:solidFill>
                  <a:srgbClr val="002060"/>
                </a:solidFill>
                <a:latin typeface="Times New Roman" panose="02020603050405020304" pitchFamily="18" charset="0"/>
                <a:cs typeface="Times New Roman" panose="02020603050405020304" pitchFamily="18" charset="0"/>
              </a:rPr>
              <a:t> </a:t>
            </a:r>
            <a:br>
              <a:rPr lang="en-IN" sz="2000" spc="-10">
                <a:solidFill>
                  <a:srgbClr val="002060"/>
                </a:solidFill>
                <a:latin typeface="Times New Roman" panose="02020603050405020304" pitchFamily="18" charset="0"/>
                <a:cs typeface="Times New Roman" panose="02020603050405020304" pitchFamily="18" charset="0"/>
              </a:rPr>
            </a:br>
            <a:r>
              <a:rPr lang="en-IN" sz="2000" spc="-10">
                <a:solidFill>
                  <a:srgbClr val="002060"/>
                </a:solidFill>
                <a:latin typeface="Times New Roman" panose="02020603050405020304" pitchFamily="18" charset="0"/>
                <a:cs typeface="Times New Roman" panose="02020603050405020304" pitchFamily="18" charset="0"/>
              </a:rPr>
              <a:t>                         </a:t>
            </a:r>
            <a:r>
              <a:rPr lang="en-IN" sz="2000" spc="-10">
                <a:solidFill>
                  <a:srgbClr val="FF0000"/>
                </a:solidFill>
                <a:latin typeface="Times New Roman" panose="02020603050405020304" pitchFamily="18" charset="0"/>
                <a:cs typeface="Times New Roman" panose="02020603050405020304" pitchFamily="18" charset="0"/>
              </a:rPr>
              <a:t>PROJECT REVIEW 1&amp;2</a:t>
            </a:r>
            <a:endParaRPr lang="en-IN" sz="2000">
              <a:solidFill>
                <a:srgbClr val="FF0000"/>
              </a:solidFill>
            </a:endParaRPr>
          </a:p>
        </p:txBody>
      </p:sp>
      <p:sp>
        <p:nvSpPr>
          <p:cNvPr id="1048586" name="TextBox 4"/>
          <p:cNvSpPr txBox="1"/>
          <p:nvPr/>
        </p:nvSpPr>
        <p:spPr>
          <a:xfrm>
            <a:off x="4254234" y="2339459"/>
            <a:ext cx="4373494" cy="400110"/>
          </a:xfrm>
          <a:prstGeom prst="rect">
            <a:avLst/>
          </a:prstGeom>
          <a:noFill/>
        </p:spPr>
        <p:txBody>
          <a:bodyPr wrap="square" rtlCol="0">
            <a:spAutoFit/>
          </a:bodyPr>
          <a:lstStyle/>
          <a:p>
            <a:r>
              <a:rPr lang="en-IN" sz="2000" dirty="0">
                <a:solidFill>
                  <a:schemeClr val="tx2">
                    <a:lumMod val="75000"/>
                  </a:schemeClr>
                </a:solidFill>
                <a:latin typeface="Times New Roman" panose="02020603050405020304" pitchFamily="18" charset="0"/>
                <a:cs typeface="Times New Roman" panose="02020603050405020304" pitchFamily="18" charset="0"/>
              </a:rPr>
              <a:t>MATRIX OPERATION USING C++      </a:t>
            </a:r>
            <a:endParaRPr lang="en-IN" sz="2000" dirty="0"/>
          </a:p>
        </p:txBody>
      </p:sp>
      <p:sp>
        <p:nvSpPr>
          <p:cNvPr id="1048587" name="TextBox 5"/>
          <p:cNvSpPr txBox="1"/>
          <p:nvPr/>
        </p:nvSpPr>
        <p:spPr>
          <a:xfrm>
            <a:off x="3102262" y="2860095"/>
            <a:ext cx="6054350" cy="1631216"/>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                                 PRESENTED BY</a:t>
            </a:r>
            <a:br>
              <a:rPr lang="en-IN" sz="2000" spc="-25" dirty="0">
                <a:solidFill>
                  <a:srgbClr val="FF0000"/>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JOGI GIREESH                                  (25B11AI427)</a:t>
            </a:r>
            <a:br>
              <a:rPr lang="en-IN" sz="2000" spc="-10" dirty="0">
                <a:solidFill>
                  <a:srgbClr val="17375E"/>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G SATISH                                           (25B11AI367) </a:t>
            </a:r>
            <a:br>
              <a:rPr lang="en-IN" sz="2000" spc="-10" dirty="0">
                <a:solidFill>
                  <a:srgbClr val="17375E"/>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K SAI VINAY                                     (25B11AI492)</a:t>
            </a:r>
            <a:br>
              <a:rPr lang="en-IN" sz="2000" spc="-10" dirty="0">
                <a:solidFill>
                  <a:srgbClr val="17375E"/>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N.BHARATH VENKATA PAVAN     (26B21AI084))</a:t>
            </a:r>
            <a:endParaRPr lang="en-IN" sz="2000" dirty="0"/>
          </a:p>
        </p:txBody>
      </p:sp>
      <p:sp>
        <p:nvSpPr>
          <p:cNvPr id="1048588" name="TextBox 6"/>
          <p:cNvSpPr txBox="1"/>
          <p:nvPr/>
        </p:nvSpPr>
        <p:spPr>
          <a:xfrm>
            <a:off x="1477361" y="4482059"/>
            <a:ext cx="2427377" cy="624840"/>
          </a:xfrm>
          <a:prstGeom prst="rect">
            <a:avLst/>
          </a:prstGeom>
          <a:noFill/>
        </p:spPr>
        <p:txBody>
          <a:bodyPr wrap="none" rtlCol="0">
            <a:spAutoFit/>
          </a:bodyPr>
          <a:lstStyle/>
          <a:p>
            <a:r>
              <a:rPr lang="en-IN" spc="-10">
                <a:solidFill>
                  <a:srgbClr val="FF0000"/>
                </a:solidFill>
                <a:latin typeface="Times New Roman" panose="02020603050405020304" pitchFamily="18" charset="0"/>
                <a:cs typeface="Times New Roman" panose="02020603050405020304" pitchFamily="18" charset="0"/>
              </a:rPr>
              <a:t>GUIDED BY</a:t>
            </a:r>
          </a:p>
          <a:p>
            <a:r>
              <a:rPr lang="en-US" spc="-10">
                <a:solidFill>
                  <a:srgbClr val="002060"/>
                </a:solidFill>
                <a:latin typeface="Times New Roman" panose="02020603050405020304" pitchFamily="18" charset="0"/>
                <a:cs typeface="Times New Roman" panose="02020603050405020304" pitchFamily="18" charset="0"/>
              </a:rPr>
              <a:t>D</a:t>
            </a:r>
            <a:r>
              <a:rPr lang="en-IN" spc="-10">
                <a:solidFill>
                  <a:srgbClr val="002060"/>
                </a:solidFill>
                <a:latin typeface="Times New Roman" panose="02020603050405020304" pitchFamily="18" charset="0"/>
                <a:cs typeface="Times New Roman" panose="02020603050405020304" pitchFamily="18" charset="0"/>
              </a:rPr>
              <a:t>R.PRAVEEN KUMAR</a:t>
            </a:r>
            <a:endParaRPr lang="en-IN">
              <a:solidFill>
                <a:srgbClr val="002060"/>
              </a:solidFill>
            </a:endParaRPr>
          </a:p>
        </p:txBody>
      </p:sp>
      <p:sp>
        <p:nvSpPr>
          <p:cNvPr id="1048589" name="TextBox 7"/>
          <p:cNvSpPr txBox="1"/>
          <p:nvPr/>
        </p:nvSpPr>
        <p:spPr>
          <a:xfrm>
            <a:off x="8407993" y="4491311"/>
            <a:ext cx="1774984" cy="624841"/>
          </a:xfrm>
          <a:prstGeom prst="rect">
            <a:avLst/>
          </a:prstGeom>
          <a:noFill/>
        </p:spPr>
        <p:txBody>
          <a:bodyPr wrap="none" rtlCol="0">
            <a:spAutoFit/>
          </a:bodyPr>
          <a:lstStyle/>
          <a:p>
            <a:r>
              <a:rPr lang="en-IN" spc="-10">
                <a:solidFill>
                  <a:srgbClr val="FF0000"/>
                </a:solidFill>
                <a:latin typeface="Times New Roman" panose="02020603050405020304" pitchFamily="18" charset="0"/>
                <a:cs typeface="Times New Roman" panose="02020603050405020304" pitchFamily="18" charset="0"/>
              </a:rPr>
              <a:t>CO-GUIDED BY</a:t>
            </a:r>
            <a:br>
              <a:rPr lang="en-IN" spc="-10">
                <a:solidFill>
                  <a:srgbClr val="FF0000"/>
                </a:solidFill>
                <a:latin typeface="Times New Roman" panose="02020603050405020304" pitchFamily="18" charset="0"/>
                <a:cs typeface="Times New Roman" panose="02020603050405020304" pitchFamily="18" charset="0"/>
              </a:rPr>
            </a:br>
            <a:r>
              <a:rPr lang="en-IN" spc="-10">
                <a:solidFill>
                  <a:srgbClr val="002060"/>
                </a:solidFill>
                <a:latin typeface="Times New Roman" panose="02020603050405020304" pitchFamily="18" charset="0"/>
                <a:cs typeface="Times New Roman" panose="02020603050405020304" pitchFamily="18" charset="0"/>
              </a:rPr>
              <a:t>DR.SRAVAN KUMAR</a:t>
            </a:r>
            <a:endParaRPr lang="en-IN"/>
          </a:p>
        </p:txBody>
      </p:sp>
      <p:sp>
        <p:nvSpPr>
          <p:cNvPr id="1048590" name="TextBox 8"/>
          <p:cNvSpPr txBox="1"/>
          <p:nvPr/>
        </p:nvSpPr>
        <p:spPr>
          <a:xfrm>
            <a:off x="2724369" y="5211068"/>
            <a:ext cx="6420268" cy="1093978"/>
          </a:xfrm>
          <a:prstGeom prst="rect">
            <a:avLst/>
          </a:prstGeom>
          <a:noFill/>
        </p:spPr>
        <p:txBody>
          <a:bodyPr wrap="none" rtlCol="0">
            <a:spAutoFit/>
          </a:bodyPr>
          <a:lstStyle/>
          <a:p>
            <a:pPr marL="1270" algn="ctr">
              <a:lnSpc>
                <a:spcPct val="100000"/>
              </a:lnSpc>
              <a:spcBef>
                <a:spcPts val="994"/>
              </a:spcBef>
            </a:pPr>
            <a:r>
              <a:rPr lang="en-US" sz="2000">
                <a:solidFill>
                  <a:srgbClr val="943735"/>
                </a:solidFill>
                <a:latin typeface="Times New Roman" panose="02020603050405020304" pitchFamily="18" charset="0"/>
                <a:cs typeface="Times New Roman" panose="02020603050405020304" pitchFamily="18" charset="0"/>
              </a:rPr>
              <a:t>DEPARTMENT OF</a:t>
            </a:r>
          </a:p>
          <a:p>
            <a:pPr marL="1270" algn="ctr">
              <a:lnSpc>
                <a:spcPct val="100000"/>
              </a:lnSpc>
              <a:spcBef>
                <a:spcPts val="994"/>
              </a:spcBef>
            </a:pPr>
            <a:r>
              <a:rPr lang="en-US" sz="2000">
                <a:solidFill>
                  <a:srgbClr val="943735"/>
                </a:solidFill>
                <a:latin typeface="Times New Roman" panose="02020603050405020304" pitchFamily="18" charset="0"/>
                <a:cs typeface="Times New Roman" panose="02020603050405020304" pitchFamily="18" charset="0"/>
              </a:rPr>
              <a:t>ARTIFICIAL INTELLIGENCE AND MACHINE LEARNING</a:t>
            </a:r>
            <a:endParaRPr lang="en-US" sz="2000" spc="-10">
              <a:solidFill>
                <a:srgbClr val="943735"/>
              </a:solidFill>
              <a:latin typeface="Times New Roman" panose="02020603050405020304" pitchFamily="18" charset="0"/>
              <a:cs typeface="Times New Roman" panose="02020603050405020304" pitchFamily="18" charset="0"/>
            </a:endParaRPr>
          </a:p>
          <a:p>
            <a:endParaRPr lang="en-IN"/>
          </a:p>
        </p:txBody>
      </p:sp>
      <p:sp>
        <p:nvSpPr>
          <p:cNvPr id="1048591" name="TextBox 1"/>
          <p:cNvSpPr txBox="1"/>
          <p:nvPr/>
        </p:nvSpPr>
        <p:spPr>
          <a:xfrm>
            <a:off x="1477361" y="5011947"/>
            <a:ext cx="1834723" cy="497840"/>
          </a:xfrm>
          <a:prstGeom prst="rect">
            <a:avLst/>
          </a:prstGeom>
          <a:noFill/>
        </p:spPr>
        <p:txBody>
          <a:bodyPr wrap="none" rtlCol="0">
            <a:spAutoFit/>
          </a:bodyPr>
          <a:lstStyle/>
          <a:p>
            <a:r>
              <a:rPr lang="en-US" sz="1400">
                <a:solidFill>
                  <a:srgbClr val="943735"/>
                </a:solidFill>
                <a:latin typeface="Times New Roman" panose="02020603050405020304" pitchFamily="18" charset="0"/>
                <a:cs typeface="Times New Roman" panose="02020603050405020304" pitchFamily="18" charset="0"/>
              </a:rPr>
              <a:t>Assistant Professor</a:t>
            </a:r>
          </a:p>
          <a:p>
            <a:r>
              <a:rPr lang="en-US" sz="1400">
                <a:solidFill>
                  <a:srgbClr val="943735"/>
                </a:solidFill>
                <a:latin typeface="Times New Roman" panose="02020603050405020304" pitchFamily="18" charset="0"/>
                <a:cs typeface="Times New Roman" panose="02020603050405020304" pitchFamily="18" charset="0"/>
              </a:rPr>
              <a:t>Department of AIML</a:t>
            </a:r>
            <a:endParaRPr lang="en-IN" sz="1400"/>
          </a:p>
        </p:txBody>
      </p:sp>
      <p:sp>
        <p:nvSpPr>
          <p:cNvPr id="1048592" name="TextBox 9"/>
          <p:cNvSpPr txBox="1"/>
          <p:nvPr/>
        </p:nvSpPr>
        <p:spPr>
          <a:xfrm>
            <a:off x="8401455" y="5067666"/>
            <a:ext cx="1834722" cy="701040"/>
          </a:xfrm>
          <a:prstGeom prst="rect">
            <a:avLst/>
          </a:prstGeom>
          <a:noFill/>
        </p:spPr>
        <p:txBody>
          <a:bodyPr wrap="none" rtlCol="0">
            <a:spAutoFit/>
          </a:bodyPr>
          <a:lstStyle/>
          <a:p>
            <a:r>
              <a:rPr lang="en-US" sz="1400">
                <a:solidFill>
                  <a:srgbClr val="943735"/>
                </a:solidFill>
                <a:latin typeface="Times New Roman" panose="02020603050405020304" pitchFamily="18" charset="0"/>
                <a:cs typeface="Times New Roman" panose="02020603050405020304" pitchFamily="18" charset="0"/>
              </a:rPr>
              <a:t>Assistant Professor</a:t>
            </a:r>
          </a:p>
          <a:p>
            <a:r>
              <a:rPr lang="en-US" sz="1400">
                <a:solidFill>
                  <a:srgbClr val="943735"/>
                </a:solidFill>
                <a:latin typeface="Times New Roman" panose="02020603050405020304" pitchFamily="18" charset="0"/>
                <a:cs typeface="Times New Roman" panose="02020603050405020304" pitchFamily="18" charset="0"/>
              </a:rPr>
              <a:t>Department of AIML</a:t>
            </a:r>
            <a:endParaRPr lang="en-IN" sz="1400"/>
          </a:p>
          <a:p>
            <a:endParaRPr lang="en-IN" sz="1400"/>
          </a:p>
        </p:txBody>
      </p:sp>
      <p:sp>
        <p:nvSpPr>
          <p:cNvPr id="2" name="TextBox 1">
            <a:extLst>
              <a:ext uri="{FF2B5EF4-FFF2-40B4-BE49-F238E27FC236}">
                <a16:creationId xmlns:a16="http://schemas.microsoft.com/office/drawing/2014/main" id="{1BA27DFF-3789-5448-BCB0-E84256B16241}"/>
              </a:ext>
            </a:extLst>
          </p:cNvPr>
          <p:cNvSpPr txBox="1"/>
          <p:nvPr/>
        </p:nvSpPr>
        <p:spPr>
          <a:xfrm>
            <a:off x="7871381" y="2224726"/>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Content Placeholder 1"/>
          <p:cNvSpPr>
            <a:spLocks noGrp="1"/>
          </p:cNvSpPr>
          <p:nvPr>
            <p:ph/>
          </p:nvPr>
        </p:nvSpPr>
        <p:spPr>
          <a:xfrm>
            <a:off x="988283" y="921529"/>
            <a:ext cx="10515600" cy="4531419"/>
          </a:xfrm>
        </p:spPr>
        <p:txBody>
          <a:bodyPr vert="horz" lIns="91440" tIns="45720" rIns="91440" bIns="45720" rtlCol="0" anchor="t">
            <a:noAutofit/>
          </a:bodyPr>
          <a:lstStyle/>
          <a:p>
            <a:pPr algn="ctr"/>
            <a:endParaRPr lang="en-US" sz="1800" dirty="0"/>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Abstract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Introduction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Problem Statement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Objectives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Novelty of the Project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Modules and Functions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Implementation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C++ Concepts Used</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Inputs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Expected Outputs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Flowchart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Team Contribution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Conclusion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References </a:t>
            </a:r>
          </a:p>
          <a:p>
            <a:endParaRPr lang="en-US" sz="1800" dirty="0">
              <a:latin typeface="Bookman Old Style"/>
              <a:ea typeface="Calibri"/>
              <a:cs typeface="Calibri"/>
            </a:endParaRPr>
          </a:p>
          <a:p>
            <a:endParaRPr lang="en-US" sz="1800" dirty="0">
              <a:latin typeface="Bookman Old Style"/>
              <a:ea typeface="Calibri"/>
              <a:cs typeface="Calibri"/>
            </a:endParaRPr>
          </a:p>
          <a:p>
            <a:endParaRPr lang="en-US" sz="1800" dirty="0">
              <a:latin typeface="Bookman Old Style"/>
              <a:ea typeface="Calibri"/>
              <a:cs typeface="Calibri"/>
            </a:endParaRPr>
          </a:p>
          <a:p>
            <a:endParaRPr lang="en-US" sz="1800" dirty="0">
              <a:latin typeface="Bookman Old Style"/>
              <a:ea typeface="Calibri"/>
              <a:cs typeface="Calibri"/>
            </a:endParaRPr>
          </a:p>
        </p:txBody>
      </p:sp>
      <p:grpSp>
        <p:nvGrpSpPr>
          <p:cNvPr id="37" name="object 3"/>
          <p:cNvGrpSpPr/>
          <p:nvPr/>
        </p:nvGrpSpPr>
        <p:grpSpPr>
          <a:xfrm>
            <a:off x="3424237" y="165549"/>
            <a:ext cx="5103904" cy="1198311"/>
            <a:chOff x="2648188" y="47148"/>
            <a:chExt cx="5103904" cy="1198311"/>
          </a:xfrm>
        </p:grpSpPr>
        <p:pic>
          <p:nvPicPr>
            <p:cNvPr id="2097154" name="object 4"/>
            <p:cNvPicPr>
              <a:picLocks/>
            </p:cNvPicPr>
            <p:nvPr/>
          </p:nvPicPr>
          <p:blipFill>
            <a:blip r:embed="rId2" cstate="print"/>
            <a:stretch>
              <a:fillRect/>
            </a:stretch>
          </p:blipFill>
          <p:spPr>
            <a:xfrm>
              <a:off x="2648188" y="47148"/>
              <a:ext cx="5103904" cy="1198311"/>
            </a:xfrm>
            <a:prstGeom prst="rect">
              <a:avLst/>
            </a:prstGeom>
          </p:spPr>
        </p:pic>
        <p:pic>
          <p:nvPicPr>
            <p:cNvPr id="2097155" name="object 5"/>
            <p:cNvPicPr>
              <a:picLocks/>
            </p:cNvPicPr>
            <p:nvPr/>
          </p:nvPicPr>
          <p:blipFill>
            <a:blip r:embed="rId3" cstate="print"/>
            <a:stretch>
              <a:fillRect/>
            </a:stretch>
          </p:blipFill>
          <p:spPr>
            <a:xfrm>
              <a:off x="2703195" y="86439"/>
              <a:ext cx="4997767" cy="1092279"/>
            </a:xfrm>
            <a:prstGeom prst="rect">
              <a:avLst/>
            </a:prstGeom>
          </p:spPr>
        </p:pic>
        <p:pic>
          <p:nvPicPr>
            <p:cNvPr id="2097156" name="object 6"/>
            <p:cNvPicPr>
              <a:picLocks/>
            </p:cNvPicPr>
            <p:nvPr/>
          </p:nvPicPr>
          <p:blipFill>
            <a:blip r:embed="rId4" cstate="print"/>
            <a:stretch>
              <a:fillRect/>
            </a:stretch>
          </p:blipFill>
          <p:spPr>
            <a:xfrm>
              <a:off x="2828925" y="243549"/>
              <a:ext cx="4585268" cy="522565"/>
            </a:xfrm>
            <a:prstGeom prst="rect">
              <a:avLst/>
            </a:prstGeom>
          </p:spPr>
        </p:pic>
        <p:sp>
          <p:nvSpPr>
            <p:cNvPr id="1048598"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599" name="TextBox 7"/>
          <p:cNvSpPr txBox="1"/>
          <p:nvPr/>
        </p:nvSpPr>
        <p:spPr>
          <a:xfrm>
            <a:off x="5212999" y="358966"/>
            <a:ext cx="1668779" cy="51054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Content Placeholder 1"/>
          <p:cNvSpPr>
            <a:spLocks noGrp="1"/>
          </p:cNvSpPr>
          <p:nvPr>
            <p:ph/>
          </p:nvPr>
        </p:nvSpPr>
        <p:spPr>
          <a:xfrm>
            <a:off x="718389" y="1520315"/>
            <a:ext cx="10515600" cy="4531419"/>
          </a:xfrm>
        </p:spPr>
        <p:txBody>
          <a:bodyPr>
            <a:normAutofit fontScale="96429"/>
          </a:bodyPr>
          <a:lstStyle/>
          <a:p>
            <a:pPr algn="just"/>
            <a:r>
              <a:rPr lang="en-IN" dirty="0"/>
              <a:t>The </a:t>
            </a:r>
            <a:r>
              <a:rPr lang="en-IN" b="1" dirty="0"/>
              <a:t>Matrix Operation System</a:t>
            </a:r>
            <a:r>
              <a:rPr lang="en-IN" dirty="0"/>
              <a:t> is a C++-based application designed to perform and manage different matrix operations in a structured and efficient manner. It allows users to enter matrices and perform operations such as addition, subtraction, multiplication, transpose, determinant and other mathematical calculations. The system uses Object-Oriented Programming concepts, arrays, functions and input validation to provide accurate and organized matrix processing. In addition to basic operations, the system can also provide matrix properties and operation results in an easy-to-understand format.</a:t>
            </a:r>
          </a:p>
          <a:p>
            <a:pPr algn="just"/>
            <a:endParaRPr lang="en-IN" dirty="0">
              <a:latin typeface="Times New Roman" panose="02020603050405020304" pitchFamily="18" charset="0"/>
              <a:cs typeface="Times New Roman" panose="02020603050405020304" pitchFamily="18" charset="0"/>
            </a:endParaRPr>
          </a:p>
        </p:txBody>
      </p:sp>
      <p:grpSp>
        <p:nvGrpSpPr>
          <p:cNvPr id="39" name="object 3"/>
          <p:cNvGrpSpPr/>
          <p:nvPr/>
        </p:nvGrpSpPr>
        <p:grpSpPr>
          <a:xfrm>
            <a:off x="3424237" y="165549"/>
            <a:ext cx="5103904" cy="1198311"/>
            <a:chOff x="2648188" y="47148"/>
            <a:chExt cx="5103904" cy="1198311"/>
          </a:xfrm>
        </p:grpSpPr>
        <p:pic>
          <p:nvPicPr>
            <p:cNvPr id="2097157" name="object 4"/>
            <p:cNvPicPr>
              <a:picLocks/>
            </p:cNvPicPr>
            <p:nvPr/>
          </p:nvPicPr>
          <p:blipFill>
            <a:blip r:embed="rId2" cstate="print"/>
            <a:stretch>
              <a:fillRect/>
            </a:stretch>
          </p:blipFill>
          <p:spPr>
            <a:xfrm>
              <a:off x="2648188" y="47148"/>
              <a:ext cx="5103904" cy="1198311"/>
            </a:xfrm>
            <a:prstGeom prst="rect">
              <a:avLst/>
            </a:prstGeom>
          </p:spPr>
        </p:pic>
        <p:pic>
          <p:nvPicPr>
            <p:cNvPr id="2097158" name="object 5"/>
            <p:cNvPicPr>
              <a:picLocks/>
            </p:cNvPicPr>
            <p:nvPr/>
          </p:nvPicPr>
          <p:blipFill>
            <a:blip r:embed="rId3" cstate="print"/>
            <a:stretch>
              <a:fillRect/>
            </a:stretch>
          </p:blipFill>
          <p:spPr>
            <a:xfrm>
              <a:off x="2703195" y="86439"/>
              <a:ext cx="4997767" cy="1092279"/>
            </a:xfrm>
            <a:prstGeom prst="rect">
              <a:avLst/>
            </a:prstGeom>
          </p:spPr>
        </p:pic>
        <p:pic>
          <p:nvPicPr>
            <p:cNvPr id="2097159" name="object 6"/>
            <p:cNvPicPr>
              <a:picLocks/>
            </p:cNvPicPr>
            <p:nvPr/>
          </p:nvPicPr>
          <p:blipFill>
            <a:blip r:embed="rId4" cstate="print"/>
            <a:stretch>
              <a:fillRect/>
            </a:stretch>
          </p:blipFill>
          <p:spPr>
            <a:xfrm>
              <a:off x="2828925" y="243549"/>
              <a:ext cx="4585268" cy="522565"/>
            </a:xfrm>
            <a:prstGeom prst="rect">
              <a:avLst/>
            </a:prstGeom>
          </p:spPr>
        </p:pic>
        <p:sp>
          <p:nvSpPr>
            <p:cNvPr id="1048601"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02" name="TextBox 7"/>
          <p:cNvSpPr txBox="1"/>
          <p:nvPr/>
        </p:nvSpPr>
        <p:spPr>
          <a:xfrm>
            <a:off x="5037025" y="361295"/>
            <a:ext cx="1721166" cy="929640"/>
          </a:xfrm>
          <a:prstGeom prst="rect">
            <a:avLst/>
          </a:prstGeom>
          <a:noFill/>
        </p:spPr>
        <p:txBody>
          <a:bodyPr wrap="square" rtlCol="0">
            <a:spAutoFit/>
          </a:bodyPr>
          <a:lstStyle/>
          <a:p>
            <a:r>
              <a:rPr lang="en-US" b="1">
                <a:solidFill>
                  <a:schemeClr val="bg1"/>
                </a:solidFill>
                <a:effectLst>
                  <a:outerShdw blurRad="38100" dist="38100" dir="2700000" algn="tl">
                    <a:srgbClr val="000000">
                      <a:alpha val="43137"/>
                    </a:srgbClr>
                  </a:outerShdw>
                </a:effectLst>
              </a:rPr>
              <a:t>    </a:t>
            </a:r>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r>
              <a:rPr lang="en-US" sz="2800" b="1">
                <a:solidFill>
                  <a:schemeClr val="bg1"/>
                </a:solidFill>
                <a:effectLst>
                  <a:outerShdw blurRad="38100" dist="38100" dir="2700000" algn="tl">
                    <a:srgbClr val="000000">
                      <a:alpha val="43137"/>
                    </a:srgbClr>
                  </a:outerShdw>
                </a:effectLst>
              </a:rPr>
              <a:t> </a:t>
            </a:r>
            <a:r>
              <a:rPr lang="en-US" b="1">
                <a:solidFill>
                  <a:schemeClr val="bg1"/>
                </a:solidFill>
                <a:effectLst>
                  <a:outerShdw blurRad="38100" dist="38100" dir="2700000" algn="tl">
                    <a:srgbClr val="000000">
                      <a:alpha val="43137"/>
                    </a:srgbClr>
                  </a:outerShdw>
                </a:effectLst>
              </a:rPr>
              <a:t>                                    </a:t>
            </a:r>
            <a:endParaRPr lang="en-IN" b="1">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Content Placeholder 1"/>
          <p:cNvSpPr>
            <a:spLocks noGrp="1"/>
          </p:cNvSpPr>
          <p:nvPr>
            <p:ph/>
          </p:nvPr>
        </p:nvSpPr>
        <p:spPr>
          <a:xfrm>
            <a:off x="784913" y="1661888"/>
            <a:ext cx="10515600" cy="4531419"/>
          </a:xfrm>
        </p:spPr>
        <p:txBody>
          <a:bodyPr>
            <a:normAutofit/>
          </a:bodyPr>
          <a:lstStyle/>
          <a:p>
            <a:pPr algn="just"/>
            <a:r>
              <a:rPr lang="en-IN" dirty="0"/>
              <a:t>The Matrix Operation System is designed to provide a centralized and efficient way to perform mathematical operations on matrices. Matrix calculations are widely used in mathematics, computer science, engineering, artificial intelligence, graphics and data </a:t>
            </a:r>
            <a:r>
              <a:rPr lang="en-IN" dirty="0" err="1"/>
              <a:t>processing.Performing</a:t>
            </a:r>
            <a:r>
              <a:rPr lang="en-IN" dirty="0"/>
              <a:t> matrix operations manually becomes difficult when the size of matrices increases. Calculating multiplication, determinant and other operations manually can also lead to calculation </a:t>
            </a:r>
            <a:r>
              <a:rPr lang="en-IN" dirty="0" err="1"/>
              <a:t>errors.The</a:t>
            </a:r>
            <a:r>
              <a:rPr lang="en-IN" dirty="0"/>
              <a:t> proposed Matrix Operation System aims to solve these problems by providing a C++ application that allows matrices to be entered, processed and displayed efficiently.</a:t>
            </a:r>
          </a:p>
          <a:p>
            <a:pPr algn="just"/>
            <a:endParaRPr lang="en-IN" dirty="0"/>
          </a:p>
        </p:txBody>
      </p:sp>
      <p:grpSp>
        <p:nvGrpSpPr>
          <p:cNvPr id="41" name="object 3"/>
          <p:cNvGrpSpPr/>
          <p:nvPr/>
        </p:nvGrpSpPr>
        <p:grpSpPr>
          <a:xfrm>
            <a:off x="3424237" y="165549"/>
            <a:ext cx="5103904" cy="1198311"/>
            <a:chOff x="2648188" y="47148"/>
            <a:chExt cx="5103904" cy="1198311"/>
          </a:xfrm>
        </p:grpSpPr>
        <p:pic>
          <p:nvPicPr>
            <p:cNvPr id="2097160" name="object 4"/>
            <p:cNvPicPr>
              <a:picLocks/>
            </p:cNvPicPr>
            <p:nvPr/>
          </p:nvPicPr>
          <p:blipFill>
            <a:blip r:embed="rId2" cstate="print"/>
            <a:stretch>
              <a:fillRect/>
            </a:stretch>
          </p:blipFill>
          <p:spPr>
            <a:xfrm>
              <a:off x="2648188" y="47148"/>
              <a:ext cx="5103904" cy="1198311"/>
            </a:xfrm>
            <a:prstGeom prst="rect">
              <a:avLst/>
            </a:prstGeom>
          </p:spPr>
        </p:pic>
        <p:pic>
          <p:nvPicPr>
            <p:cNvPr id="2097161" name="object 5"/>
            <p:cNvPicPr>
              <a:picLocks/>
            </p:cNvPicPr>
            <p:nvPr/>
          </p:nvPicPr>
          <p:blipFill>
            <a:blip r:embed="rId3" cstate="print"/>
            <a:stretch>
              <a:fillRect/>
            </a:stretch>
          </p:blipFill>
          <p:spPr>
            <a:xfrm>
              <a:off x="2703195" y="86439"/>
              <a:ext cx="4997767" cy="1092279"/>
            </a:xfrm>
            <a:prstGeom prst="rect">
              <a:avLst/>
            </a:prstGeom>
          </p:spPr>
        </p:pic>
        <p:pic>
          <p:nvPicPr>
            <p:cNvPr id="2097162" name="object 6"/>
            <p:cNvPicPr>
              <a:picLocks/>
            </p:cNvPicPr>
            <p:nvPr/>
          </p:nvPicPr>
          <p:blipFill>
            <a:blip r:embed="rId4" cstate="print"/>
            <a:stretch>
              <a:fillRect/>
            </a:stretch>
          </p:blipFill>
          <p:spPr>
            <a:xfrm>
              <a:off x="2828925" y="243549"/>
              <a:ext cx="4585268" cy="522565"/>
            </a:xfrm>
            <a:prstGeom prst="rect">
              <a:avLst/>
            </a:prstGeom>
          </p:spPr>
        </p:pic>
        <p:sp>
          <p:nvSpPr>
            <p:cNvPr id="1048604"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05" name="TextBox 7"/>
          <p:cNvSpPr txBox="1"/>
          <p:nvPr/>
        </p:nvSpPr>
        <p:spPr>
          <a:xfrm>
            <a:off x="4971747" y="347962"/>
            <a:ext cx="2141933"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Content Placeholder 1"/>
          <p:cNvSpPr>
            <a:spLocks noGrp="1"/>
          </p:cNvSpPr>
          <p:nvPr>
            <p:ph/>
          </p:nvPr>
        </p:nvSpPr>
        <p:spPr>
          <a:xfrm>
            <a:off x="718389" y="1661888"/>
            <a:ext cx="10515600" cy="4531419"/>
          </a:xfrm>
        </p:spPr>
        <p:txBody>
          <a:bodyPr>
            <a:normAutofit/>
          </a:bodyPr>
          <a:lstStyle/>
          <a:p>
            <a:pPr algn="just"/>
            <a:r>
              <a:rPr lang="en-IN" sz="2400" dirty="0"/>
              <a:t>Performing matrix operations manually becomes difficult and time-consuming, especially when the size of the matrices increases. Operations such as addition, subtraction, multiplication, transpose, and determinant calculation require multiple calculations and proper mathematical procedures.</a:t>
            </a:r>
          </a:p>
          <a:p>
            <a:r>
              <a:rPr lang="en-IN" sz="2400" dirty="0"/>
              <a:t>The proposed </a:t>
            </a:r>
            <a:r>
              <a:rPr lang="en-IN" sz="2400" b="1" dirty="0"/>
              <a:t>Matrix Operation System</a:t>
            </a:r>
            <a:r>
              <a:rPr lang="en-IN" sz="2400" dirty="0"/>
              <a:t> aims to solve these problems by providing a centralized C++ application that allows users to </a:t>
            </a:r>
            <a:r>
              <a:rPr lang="en-IN" sz="2400" b="1" dirty="0"/>
              <a:t>enter matrices, select the required operation, process the data, and obtain accurate results efficiently</a:t>
            </a:r>
            <a:r>
              <a:rPr lang="en-IN" sz="2400" dirty="0"/>
              <a:t>.</a:t>
            </a:r>
          </a:p>
          <a:p>
            <a:r>
              <a:rPr lang="en-IN" sz="2400" dirty="0"/>
              <a:t>The system also validates matrix dimensions before performing operations, helping to prevent invalid calculations and improving the reliability of the results.</a:t>
            </a:r>
          </a:p>
          <a:p>
            <a:pPr algn="just"/>
            <a:endParaRPr lang="en-IN" sz="2400" dirty="0">
              <a:latin typeface="Times New Roman" panose="02020603050405020304" pitchFamily="18" charset="0"/>
              <a:cs typeface="Times New Roman" panose="02020603050405020304" pitchFamily="18" charset="0"/>
            </a:endParaRPr>
          </a:p>
        </p:txBody>
      </p:sp>
      <p:grpSp>
        <p:nvGrpSpPr>
          <p:cNvPr id="43" name="object 3"/>
          <p:cNvGrpSpPr/>
          <p:nvPr/>
        </p:nvGrpSpPr>
        <p:grpSpPr>
          <a:xfrm>
            <a:off x="3424237" y="165549"/>
            <a:ext cx="5103904" cy="1198311"/>
            <a:chOff x="2648188" y="47148"/>
            <a:chExt cx="5103904" cy="1198311"/>
          </a:xfrm>
        </p:grpSpPr>
        <p:pic>
          <p:nvPicPr>
            <p:cNvPr id="2097163" name="object 4"/>
            <p:cNvPicPr>
              <a:picLocks/>
            </p:cNvPicPr>
            <p:nvPr/>
          </p:nvPicPr>
          <p:blipFill>
            <a:blip r:embed="rId2" cstate="print"/>
            <a:stretch>
              <a:fillRect/>
            </a:stretch>
          </p:blipFill>
          <p:spPr>
            <a:xfrm>
              <a:off x="2648188" y="47148"/>
              <a:ext cx="5103904" cy="1198311"/>
            </a:xfrm>
            <a:prstGeom prst="rect">
              <a:avLst/>
            </a:prstGeom>
          </p:spPr>
        </p:pic>
        <p:pic>
          <p:nvPicPr>
            <p:cNvPr id="2097164" name="object 5"/>
            <p:cNvPicPr>
              <a:picLocks/>
            </p:cNvPicPr>
            <p:nvPr/>
          </p:nvPicPr>
          <p:blipFill>
            <a:blip r:embed="rId3" cstate="print"/>
            <a:stretch>
              <a:fillRect/>
            </a:stretch>
          </p:blipFill>
          <p:spPr>
            <a:xfrm>
              <a:off x="2703195" y="86439"/>
              <a:ext cx="4997767" cy="1092279"/>
            </a:xfrm>
            <a:prstGeom prst="rect">
              <a:avLst/>
            </a:prstGeom>
          </p:spPr>
        </p:pic>
        <p:pic>
          <p:nvPicPr>
            <p:cNvPr id="2097165" name="object 6"/>
            <p:cNvPicPr>
              <a:picLocks/>
            </p:cNvPicPr>
            <p:nvPr/>
          </p:nvPicPr>
          <p:blipFill>
            <a:blip r:embed="rId4" cstate="print"/>
            <a:stretch>
              <a:fillRect/>
            </a:stretch>
          </p:blipFill>
          <p:spPr>
            <a:xfrm>
              <a:off x="2828925" y="243549"/>
              <a:ext cx="4585268" cy="522565"/>
            </a:xfrm>
            <a:prstGeom prst="rect">
              <a:avLst/>
            </a:prstGeom>
          </p:spPr>
        </p:pic>
        <p:sp>
          <p:nvSpPr>
            <p:cNvPr id="104860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08" name="TextBox 7"/>
          <p:cNvSpPr txBox="1"/>
          <p:nvPr/>
        </p:nvSpPr>
        <p:spPr>
          <a:xfrm>
            <a:off x="4381808" y="347962"/>
            <a:ext cx="3148619"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a:t>
            </a:r>
            <a:r>
              <a:rPr lang="en-US" sz="2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Statement</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object 3"/>
          <p:cNvGrpSpPr/>
          <p:nvPr/>
        </p:nvGrpSpPr>
        <p:grpSpPr>
          <a:xfrm>
            <a:off x="3424237" y="165549"/>
            <a:ext cx="5103904" cy="1198311"/>
            <a:chOff x="2648188" y="47148"/>
            <a:chExt cx="5103904" cy="1198311"/>
          </a:xfrm>
        </p:grpSpPr>
        <p:pic>
          <p:nvPicPr>
            <p:cNvPr id="2097166" name="object 4"/>
            <p:cNvPicPr>
              <a:picLocks/>
            </p:cNvPicPr>
            <p:nvPr/>
          </p:nvPicPr>
          <p:blipFill>
            <a:blip r:embed="rId2" cstate="print"/>
            <a:stretch>
              <a:fillRect/>
            </a:stretch>
          </p:blipFill>
          <p:spPr>
            <a:xfrm>
              <a:off x="2648188" y="47148"/>
              <a:ext cx="5103904" cy="1198311"/>
            </a:xfrm>
            <a:prstGeom prst="rect">
              <a:avLst/>
            </a:prstGeom>
          </p:spPr>
        </p:pic>
        <p:pic>
          <p:nvPicPr>
            <p:cNvPr id="2097167" name="object 5"/>
            <p:cNvPicPr>
              <a:picLocks/>
            </p:cNvPicPr>
            <p:nvPr/>
          </p:nvPicPr>
          <p:blipFill>
            <a:blip r:embed="rId3" cstate="print"/>
            <a:stretch>
              <a:fillRect/>
            </a:stretch>
          </p:blipFill>
          <p:spPr>
            <a:xfrm>
              <a:off x="2703195" y="86439"/>
              <a:ext cx="4997767" cy="1092279"/>
            </a:xfrm>
            <a:prstGeom prst="rect">
              <a:avLst/>
            </a:prstGeom>
          </p:spPr>
        </p:pic>
        <p:pic>
          <p:nvPicPr>
            <p:cNvPr id="2097168" name="object 6"/>
            <p:cNvPicPr>
              <a:picLocks/>
            </p:cNvPicPr>
            <p:nvPr/>
          </p:nvPicPr>
          <p:blipFill>
            <a:blip r:embed="rId4" cstate="print"/>
            <a:stretch>
              <a:fillRect/>
            </a:stretch>
          </p:blipFill>
          <p:spPr>
            <a:xfrm>
              <a:off x="2828925" y="243549"/>
              <a:ext cx="4585268" cy="522565"/>
            </a:xfrm>
            <a:prstGeom prst="rect">
              <a:avLst/>
            </a:prstGeom>
          </p:spPr>
        </p:pic>
        <p:sp>
          <p:nvSpPr>
            <p:cNvPr id="104860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10" name="TextBox 6"/>
          <p:cNvSpPr txBox="1"/>
          <p:nvPr/>
        </p:nvSpPr>
        <p:spPr>
          <a:xfrm>
            <a:off x="5076744" y="347962"/>
            <a:ext cx="1798890"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11" name="TextBox 7"/>
          <p:cNvSpPr txBox="1"/>
          <p:nvPr/>
        </p:nvSpPr>
        <p:spPr>
          <a:xfrm>
            <a:off x="1514475" y="1985963"/>
            <a:ext cx="184731" cy="369332"/>
          </a:xfrm>
          <a:prstGeom prst="rect">
            <a:avLst/>
          </a:prstGeom>
          <a:noFill/>
        </p:spPr>
        <p:txBody>
          <a:bodyPr wrap="none" rtlCol="0">
            <a:spAutoFit/>
          </a:bodyPr>
          <a:lstStyle/>
          <a:p>
            <a:endParaRPr lang="en-IN"/>
          </a:p>
        </p:txBody>
      </p:sp>
      <p:sp>
        <p:nvSpPr>
          <p:cNvPr id="1048612" name="Rectangle 1"/>
          <p:cNvSpPr>
            <a:spLocks noChangeArrowheads="1"/>
          </p:cNvSpPr>
          <p:nvPr/>
        </p:nvSpPr>
        <p:spPr bwMode="auto">
          <a:xfrm>
            <a:off x="428626" y="3540048"/>
            <a:ext cx="264816" cy="369332"/>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C9333FD6-DB56-9E91-7C21-EFCE93633D33}"/>
              </a:ext>
            </a:extLst>
          </p:cNvPr>
          <p:cNvSpPr txBox="1"/>
          <p:nvPr/>
        </p:nvSpPr>
        <p:spPr>
          <a:xfrm>
            <a:off x="1336248" y="1336410"/>
            <a:ext cx="8184823" cy="4093428"/>
          </a:xfrm>
          <a:prstGeom prst="rect">
            <a:avLst/>
          </a:prstGeom>
          <a:noFill/>
        </p:spPr>
        <p:txBody>
          <a:bodyPr wrap="square">
            <a:spAutoFit/>
          </a:bodyPr>
          <a:lstStyle/>
          <a:p>
            <a:pPr lvl="0" eaLnBrk="0" fontAlgn="base" hangingPunct="0">
              <a:spcBef>
                <a:spcPct val="0"/>
              </a:spcBef>
              <a:spcAft>
                <a:spcPct val="0"/>
              </a:spcAft>
              <a:buFontTx/>
              <a:buChar char="•"/>
            </a:pPr>
            <a:r>
              <a:rPr lang="en-IN" sz="2000" dirty="0"/>
              <a:t>To develop a C++ based Matrix Operation System using OOP concepts.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IN" sz="2000" dirty="0"/>
              <a:t>To perform basic matrix operations efficiently.</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IN" sz="2000" dirty="0"/>
              <a:t>To perform matrix addition and subtraction.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To</a:t>
            </a:r>
            <a:r>
              <a:rPr lang="en-IN" sz="2000" dirty="0"/>
              <a:t> perform matrix multiplication.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IN" sz="2000" dirty="0"/>
              <a:t>To validate matrix dimensions before performing operations.</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IN" sz="2000" dirty="0"/>
              <a:t>To reduce manual calculation effort.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IN" sz="2000" dirty="0"/>
              <a:t>To provide easy input and retrieval of matrix results.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Content Placeholder 1"/>
          <p:cNvSpPr>
            <a:spLocks noGrp="1"/>
          </p:cNvSpPr>
          <p:nvPr>
            <p:ph/>
          </p:nvPr>
        </p:nvSpPr>
        <p:spPr>
          <a:xfrm>
            <a:off x="639808" y="1336410"/>
            <a:ext cx="10515600" cy="4531419"/>
          </a:xfrm>
        </p:spPr>
        <p:txBody>
          <a:bodyPr>
            <a:normAutofit fontScale="85000" lnSpcReduction="10000"/>
          </a:bodyPr>
          <a:lstStyle/>
          <a:p>
            <a:pPr lvl="0"/>
            <a:r>
              <a:rPr lang="en-US" sz="4700" b="1"/>
              <a:t>.    </a:t>
            </a:r>
            <a:r>
              <a:rPr lang="en-US" sz="2600" b="1"/>
              <a:t>Multiple Operations:</a:t>
            </a:r>
            <a:r>
              <a:rPr lang="en-US" sz="2600"/>
              <a:t> Performs different matrix operations in a single system. </a:t>
            </a:r>
          </a:p>
          <a:p>
            <a:pPr marL="1314450" lvl="0" indent="-857250">
              <a:buFont typeface="Arial" panose="020B0604020202020204" pitchFamily="34" charset="0"/>
              <a:buChar char="•"/>
            </a:pPr>
            <a:endParaRPr lang="en-US" sz="2600"/>
          </a:p>
          <a:p>
            <a:pPr marL="1028700" lvl="0" indent="-571500">
              <a:buFont typeface="Arial" panose="020B0604020202020204" pitchFamily="34" charset="0"/>
              <a:buChar char="•"/>
            </a:pPr>
            <a:r>
              <a:rPr lang="en-US" sz="2600" b="1"/>
              <a:t>Dimension Validation:</a:t>
            </a:r>
            <a:r>
              <a:rPr lang="en-US" sz="2600"/>
              <a:t> Checks whether matrices are suitable for the selected operation.</a:t>
            </a:r>
          </a:p>
          <a:p>
            <a:pPr marL="1028700" lvl="0" indent="-571500">
              <a:buFont typeface="Arial" panose="020B0604020202020204" pitchFamily="34" charset="0"/>
              <a:buChar char="•"/>
            </a:pPr>
            <a:endParaRPr lang="en-US" sz="2600"/>
          </a:p>
          <a:p>
            <a:pPr marL="1028700" lvl="0" indent="-571500">
              <a:buFont typeface="Arial" panose="020B0604020202020204" pitchFamily="34" charset="0"/>
              <a:buChar char="•"/>
            </a:pPr>
            <a:r>
              <a:rPr lang="en-US" sz="2600" b="1"/>
              <a:t>Operation Management:</a:t>
            </a:r>
            <a:r>
              <a:rPr lang="en-US" sz="2600"/>
              <a:t> Allows users to select the required matrix operation. </a:t>
            </a:r>
          </a:p>
          <a:p>
            <a:pPr marL="1028700" lvl="0" indent="-571500">
              <a:buFont typeface="Arial" panose="020B0604020202020204" pitchFamily="34" charset="0"/>
              <a:buChar char="•"/>
            </a:pPr>
            <a:endParaRPr lang="en-US" sz="2600"/>
          </a:p>
          <a:p>
            <a:pPr marL="1028700" lvl="0" indent="-571500">
              <a:buFont typeface="Arial" panose="020B0604020202020204" pitchFamily="34" charset="0"/>
              <a:buChar char="•"/>
            </a:pPr>
            <a:r>
              <a:rPr lang="en-US" sz="2600" b="1"/>
              <a:t>Error Reduction:</a:t>
            </a:r>
            <a:r>
              <a:rPr lang="en-US" sz="2600"/>
              <a:t> Reduces calculation errors compared with manual processing. </a:t>
            </a:r>
          </a:p>
          <a:p>
            <a:pPr marL="1028700" lvl="0" indent="-571500">
              <a:buFont typeface="Arial" panose="020B0604020202020204" pitchFamily="34" charset="0"/>
              <a:buChar char="•"/>
            </a:pPr>
            <a:endParaRPr lang="en-US" sz="2600"/>
          </a:p>
          <a:p>
            <a:pPr marL="1028700" lvl="0" indent="-571500">
              <a:buFont typeface="Arial" panose="020B0604020202020204" pitchFamily="34" charset="0"/>
              <a:buChar char="•"/>
            </a:pPr>
            <a:r>
              <a:rPr lang="en-US" sz="2600" b="1"/>
              <a:t>User-Friendly Interface:</a:t>
            </a:r>
            <a:r>
              <a:rPr lang="en-US" sz="2600"/>
              <a:t> Provides a simple menu-based way to enter matrices and view results.</a:t>
            </a:r>
          </a:p>
          <a:p>
            <a:endParaRPr lang="en-IN"/>
          </a:p>
        </p:txBody>
      </p:sp>
      <p:grpSp>
        <p:nvGrpSpPr>
          <p:cNvPr id="47" name="object 3"/>
          <p:cNvGrpSpPr/>
          <p:nvPr/>
        </p:nvGrpSpPr>
        <p:grpSpPr>
          <a:xfrm>
            <a:off x="3424237" y="165549"/>
            <a:ext cx="5103904" cy="1198311"/>
            <a:chOff x="2648188" y="47148"/>
            <a:chExt cx="5103904" cy="1198311"/>
          </a:xfrm>
        </p:grpSpPr>
        <p:pic>
          <p:nvPicPr>
            <p:cNvPr id="2097169" name="object 4"/>
            <p:cNvPicPr>
              <a:picLocks/>
            </p:cNvPicPr>
            <p:nvPr/>
          </p:nvPicPr>
          <p:blipFill>
            <a:blip r:embed="rId2" cstate="print"/>
            <a:stretch>
              <a:fillRect/>
            </a:stretch>
          </p:blipFill>
          <p:spPr>
            <a:xfrm>
              <a:off x="2648188" y="47148"/>
              <a:ext cx="5103904" cy="1198311"/>
            </a:xfrm>
            <a:prstGeom prst="rect">
              <a:avLst/>
            </a:prstGeom>
          </p:spPr>
        </p:pic>
        <p:pic>
          <p:nvPicPr>
            <p:cNvPr id="2097170" name="object 5"/>
            <p:cNvPicPr>
              <a:picLocks/>
            </p:cNvPicPr>
            <p:nvPr/>
          </p:nvPicPr>
          <p:blipFill>
            <a:blip r:embed="rId3" cstate="print"/>
            <a:stretch>
              <a:fillRect/>
            </a:stretch>
          </p:blipFill>
          <p:spPr>
            <a:xfrm>
              <a:off x="2703195" y="86439"/>
              <a:ext cx="4997767" cy="1092279"/>
            </a:xfrm>
            <a:prstGeom prst="rect">
              <a:avLst/>
            </a:prstGeom>
          </p:spPr>
        </p:pic>
        <p:pic>
          <p:nvPicPr>
            <p:cNvPr id="2097171" name="object 6"/>
            <p:cNvPicPr>
              <a:picLocks/>
            </p:cNvPicPr>
            <p:nvPr/>
          </p:nvPicPr>
          <p:blipFill>
            <a:blip r:embed="rId4" cstate="print"/>
            <a:stretch>
              <a:fillRect/>
            </a:stretch>
          </p:blipFill>
          <p:spPr>
            <a:xfrm>
              <a:off x="2828925" y="243549"/>
              <a:ext cx="4585268" cy="522565"/>
            </a:xfrm>
            <a:prstGeom prst="rect">
              <a:avLst/>
            </a:prstGeom>
          </p:spPr>
        </p:pic>
        <p:sp>
          <p:nvSpPr>
            <p:cNvPr id="1048615"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16" name="TextBox 7"/>
          <p:cNvSpPr txBox="1"/>
          <p:nvPr/>
        </p:nvSpPr>
        <p:spPr>
          <a:xfrm>
            <a:off x="4215897" y="347962"/>
            <a:ext cx="3525324"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Novelty of the Project</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object 3"/>
          <p:cNvGrpSpPr/>
          <p:nvPr/>
        </p:nvGrpSpPr>
        <p:grpSpPr>
          <a:xfrm>
            <a:off x="3424237" y="165549"/>
            <a:ext cx="5103904" cy="1198311"/>
            <a:chOff x="2648188" y="47148"/>
            <a:chExt cx="5103904" cy="1198311"/>
          </a:xfrm>
        </p:grpSpPr>
        <p:pic>
          <p:nvPicPr>
            <p:cNvPr id="2097172" name="object 4"/>
            <p:cNvPicPr>
              <a:picLocks/>
            </p:cNvPicPr>
            <p:nvPr/>
          </p:nvPicPr>
          <p:blipFill>
            <a:blip r:embed="rId2" cstate="print"/>
            <a:stretch>
              <a:fillRect/>
            </a:stretch>
          </p:blipFill>
          <p:spPr>
            <a:xfrm>
              <a:off x="2648188" y="47148"/>
              <a:ext cx="5103904" cy="1198311"/>
            </a:xfrm>
            <a:prstGeom prst="rect">
              <a:avLst/>
            </a:prstGeom>
          </p:spPr>
        </p:pic>
        <p:pic>
          <p:nvPicPr>
            <p:cNvPr id="2097173" name="object 5"/>
            <p:cNvPicPr>
              <a:picLocks/>
            </p:cNvPicPr>
            <p:nvPr/>
          </p:nvPicPr>
          <p:blipFill>
            <a:blip r:embed="rId3" cstate="print"/>
            <a:stretch>
              <a:fillRect/>
            </a:stretch>
          </p:blipFill>
          <p:spPr>
            <a:xfrm>
              <a:off x="2703195" y="86439"/>
              <a:ext cx="4997767" cy="1092279"/>
            </a:xfrm>
            <a:prstGeom prst="rect">
              <a:avLst/>
            </a:prstGeom>
          </p:spPr>
        </p:pic>
        <p:pic>
          <p:nvPicPr>
            <p:cNvPr id="2097174" name="object 6"/>
            <p:cNvPicPr>
              <a:picLocks/>
            </p:cNvPicPr>
            <p:nvPr/>
          </p:nvPicPr>
          <p:blipFill>
            <a:blip r:embed="rId4" cstate="print"/>
            <a:stretch>
              <a:fillRect/>
            </a:stretch>
          </p:blipFill>
          <p:spPr>
            <a:xfrm>
              <a:off x="2828925" y="243549"/>
              <a:ext cx="4585268" cy="522565"/>
            </a:xfrm>
            <a:prstGeom prst="rect">
              <a:avLst/>
            </a:prstGeom>
          </p:spPr>
        </p:pic>
        <p:sp>
          <p:nvSpPr>
            <p:cNvPr id="104861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18" name="TextBox 6"/>
          <p:cNvSpPr txBox="1"/>
          <p:nvPr/>
        </p:nvSpPr>
        <p:spPr>
          <a:xfrm>
            <a:off x="4148571" y="352425"/>
            <a:ext cx="3498073"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 &amp; Functions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19" name="Rectangle 1"/>
          <p:cNvSpPr>
            <a:spLocks noChangeArrowheads="1"/>
          </p:cNvSpPr>
          <p:nvPr/>
        </p:nvSpPr>
        <p:spPr bwMode="auto">
          <a:xfrm>
            <a:off x="614363" y="3349270"/>
            <a:ext cx="184731" cy="369332"/>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48620" name="Rectangle 2"/>
          <p:cNvSpPr>
            <a:spLocks noChangeArrowheads="1"/>
          </p:cNvSpPr>
          <p:nvPr/>
        </p:nvSpPr>
        <p:spPr bwMode="auto">
          <a:xfrm>
            <a:off x="544894" y="5611428"/>
            <a:ext cx="184731" cy="369332"/>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48621" name="TextBox 10"/>
          <p:cNvSpPr txBox="1"/>
          <p:nvPr/>
        </p:nvSpPr>
        <p:spPr>
          <a:xfrm>
            <a:off x="12248402" y="4129088"/>
            <a:ext cx="5431295" cy="4604784"/>
          </a:xfrm>
          <a:prstGeom prst="rect">
            <a:avLst/>
          </a:prstGeom>
          <a:noFill/>
        </p:spPr>
        <p:txBody>
          <a:bodyPr wrap="square" rtlCol="0">
            <a:spAutoFit/>
          </a:bodyPr>
          <a:lstStyle/>
          <a:p>
            <a:endParaRPr lang="en-IN"/>
          </a:p>
        </p:txBody>
      </p:sp>
      <p:sp>
        <p:nvSpPr>
          <p:cNvPr id="1048622" name="Rectangle 3"/>
          <p:cNvSpPr>
            <a:spLocks noChangeArrowheads="1"/>
          </p:cNvSpPr>
          <p:nvPr/>
        </p:nvSpPr>
        <p:spPr bwMode="auto">
          <a:xfrm>
            <a:off x="5897607" y="3487770"/>
            <a:ext cx="184731" cy="369332"/>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48623" name="TextBox 7"/>
          <p:cNvSpPr txBox="1"/>
          <p:nvPr/>
        </p:nvSpPr>
        <p:spPr>
          <a:xfrm>
            <a:off x="706728" y="1611925"/>
            <a:ext cx="3537250" cy="6524863"/>
          </a:xfrm>
          <a:prstGeom prst="rect">
            <a:avLst/>
          </a:prstGeom>
          <a:noFill/>
        </p:spPr>
        <p:txBody>
          <a:bodyPr wrap="none" rtlCol="0">
            <a:spAutoFit/>
          </a:bodyPr>
          <a:lstStyle/>
          <a:p>
            <a:pPr marL="514350" indent="-514350">
              <a:buAutoNum type="arabicPeriod"/>
            </a:pPr>
            <a:r>
              <a:rPr lang="en-US" sz="2800" b="1"/>
              <a:t>Matrix Management</a:t>
            </a:r>
          </a:p>
          <a:p>
            <a:pPr marL="514350" indent="-514350">
              <a:buAutoNum type="arabicPeriod"/>
            </a:pPr>
            <a:endParaRPr lang="en-US" sz="2800"/>
          </a:p>
          <a:p>
            <a:pPr marL="342900" lvl="0" indent="-342900">
              <a:buFont typeface="Arial" panose="020B0604020202020204" pitchFamily="34" charset="0"/>
              <a:buChar char="•"/>
            </a:pPr>
            <a:r>
              <a:rPr lang="en-US" sz="2400"/>
              <a:t>Create Matrix </a:t>
            </a:r>
          </a:p>
          <a:p>
            <a:pPr marL="342900" lvl="0" indent="-342900">
              <a:buFont typeface="Arial" panose="020B0604020202020204" pitchFamily="34" charset="0"/>
              <a:buChar char="•"/>
            </a:pPr>
            <a:r>
              <a:rPr lang="en-US" sz="2400"/>
              <a:t>Enter Matrix Elements </a:t>
            </a:r>
          </a:p>
          <a:p>
            <a:pPr marL="342900" lvl="0" indent="-342900">
              <a:buFont typeface="Arial" panose="020B0604020202020204" pitchFamily="34" charset="0"/>
              <a:buChar char="•"/>
            </a:pPr>
            <a:r>
              <a:rPr lang="en-US" sz="2400"/>
              <a:t>Display Matrix </a:t>
            </a:r>
          </a:p>
          <a:p>
            <a:pPr marL="342900" lvl="0" indent="-342900">
              <a:buFont typeface="Arial" panose="020B0604020202020204" pitchFamily="34" charset="0"/>
              <a:buChar char="•"/>
            </a:pPr>
            <a:r>
              <a:rPr lang="en-US" sz="2400"/>
              <a:t>Update Matrix </a:t>
            </a:r>
          </a:p>
          <a:p>
            <a:pPr marL="342900" lvl="0" indent="-342900">
              <a:buFont typeface="Arial" panose="020B0604020202020204" pitchFamily="34" charset="0"/>
              <a:buChar char="•"/>
            </a:pPr>
            <a:r>
              <a:rPr lang="en-US" sz="2400"/>
              <a:t>Store Matrix</a:t>
            </a:r>
          </a:p>
          <a:p>
            <a:endParaRPr lang="en-IN" sz="20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F</a:t>
            </a:r>
            <a:r>
              <a:rPr lang="en-IN" sz="2400" err="1">
                <a:latin typeface="Times New Roman" panose="02020603050405020304" pitchFamily="18" charset="0"/>
                <a:cs typeface="Times New Roman" panose="02020603050405020304" pitchFamily="18" charset="0"/>
              </a:rPr>
              <a:t>unctions</a:t>
            </a:r>
            <a:r>
              <a:rPr lang="en-IN" sz="2400">
                <a:latin typeface="Times New Roman" panose="02020603050405020304" pitchFamily="18" charset="0"/>
                <a:cs typeface="Times New Roman" panose="02020603050405020304" pitchFamily="18" charset="0"/>
              </a:rPr>
              <a:t>:</a:t>
            </a:r>
            <a:endParaRPr lang="en-US" sz="2000">
              <a:latin typeface="Times New Roman" panose="02020603050405020304" pitchFamily="18" charset="0"/>
              <a:cs typeface="Times New Roman" panose="02020603050405020304" pitchFamily="18" charset="0"/>
            </a:endParaRPr>
          </a:p>
          <a:p>
            <a:pPr lvl="0"/>
            <a:r>
              <a:rPr lang="en-US" sz="4000"/>
              <a:t>. </a:t>
            </a:r>
            <a:r>
              <a:rPr lang="en-US" err="1"/>
              <a:t>createMatrix</a:t>
            </a:r>
            <a:r>
              <a:rPr lang="en-US"/>
              <a:t>()</a:t>
            </a:r>
            <a:r>
              <a:rPr lang="en-US" sz="2000"/>
              <a:t> </a:t>
            </a:r>
          </a:p>
          <a:p>
            <a:pPr marL="285750" lvl="0" indent="-285750">
              <a:buFont typeface="Arial" panose="020B0604020202020204" pitchFamily="34" charset="0"/>
              <a:buChar char="•"/>
            </a:pPr>
            <a:r>
              <a:rPr lang="en-US" err="1"/>
              <a:t>inputMatrix</a:t>
            </a:r>
            <a:r>
              <a:rPr lang="en-US"/>
              <a:t>()</a:t>
            </a:r>
            <a:r>
              <a:rPr lang="en-US" sz="2000"/>
              <a:t> </a:t>
            </a:r>
          </a:p>
          <a:p>
            <a:pPr marL="285750" lvl="0" indent="-285750">
              <a:buFont typeface="Arial" panose="020B0604020202020204" pitchFamily="34" charset="0"/>
              <a:buChar char="•"/>
            </a:pPr>
            <a:r>
              <a:rPr lang="en-US" err="1"/>
              <a:t>displayMatrix</a:t>
            </a:r>
            <a:r>
              <a:rPr lang="en-US"/>
              <a:t>()</a:t>
            </a:r>
            <a:r>
              <a:rPr lang="en-US" sz="2000"/>
              <a:t> </a:t>
            </a:r>
          </a:p>
          <a:p>
            <a:pPr marL="285750" lvl="0" indent="-285750">
              <a:buFont typeface="Arial" panose="020B0604020202020204" pitchFamily="34" charset="0"/>
              <a:buChar char="•"/>
            </a:pPr>
            <a:r>
              <a:rPr lang="en-US" err="1"/>
              <a:t>updateMatrix</a:t>
            </a:r>
            <a:r>
              <a:rPr lang="en-US"/>
              <a:t>()</a:t>
            </a:r>
            <a:endParaRPr lang="en-US" sz="2000"/>
          </a:p>
          <a:p>
            <a:pPr marL="342900" indent="-3429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1048624" name="TextBox 14"/>
          <p:cNvSpPr txBox="1"/>
          <p:nvPr/>
        </p:nvSpPr>
        <p:spPr>
          <a:xfrm>
            <a:off x="6880485" y="1373385"/>
            <a:ext cx="4089453" cy="7632859"/>
          </a:xfrm>
          <a:prstGeom prst="rect">
            <a:avLst/>
          </a:prstGeom>
          <a:noFill/>
        </p:spPr>
        <p:txBody>
          <a:bodyPr wrap="none" rtlCol="0">
            <a:spAutoFit/>
          </a:bodyPr>
          <a:lstStyle/>
          <a:p>
            <a:r>
              <a:rPr lang="en-IN" sz="2400" b="1">
                <a:latin typeface="Times New Roman" panose="02020603050405020304" pitchFamily="18" charset="0"/>
                <a:cs typeface="Times New Roman" panose="02020603050405020304" pitchFamily="18" charset="0"/>
              </a:rPr>
              <a:t>2</a:t>
            </a:r>
            <a:r>
              <a:rPr lang="en-IN" sz="2800" b="1">
                <a:latin typeface="Times New Roman" panose="02020603050405020304" pitchFamily="18" charset="0"/>
                <a:cs typeface="Times New Roman" panose="02020603050405020304" pitchFamily="18" charset="0"/>
              </a:rPr>
              <a:t>. </a:t>
            </a:r>
            <a:r>
              <a:rPr lang="en-US" sz="2800" b="1"/>
              <a:t>Basic Matrix Operations</a:t>
            </a:r>
          </a:p>
          <a:p>
            <a:endParaRPr lang="en-US" sz="2000"/>
          </a:p>
          <a:p>
            <a:pPr marL="342900" lvl="0" indent="-342900">
              <a:buFont typeface="Arial" panose="020B0604020202020204" pitchFamily="34" charset="0"/>
              <a:buChar char="•"/>
            </a:pPr>
            <a:r>
              <a:rPr lang="en-US" sz="2400"/>
              <a:t>Matrix Addition </a:t>
            </a:r>
          </a:p>
          <a:p>
            <a:pPr marL="342900" lvl="0" indent="-342900">
              <a:buFont typeface="Arial" panose="020B0604020202020204" pitchFamily="34" charset="0"/>
              <a:buChar char="•"/>
            </a:pPr>
            <a:r>
              <a:rPr lang="en-US" sz="2400"/>
              <a:t>Matrix Subtraction </a:t>
            </a:r>
          </a:p>
          <a:p>
            <a:pPr marL="342900" lvl="0" indent="-342900">
              <a:buFont typeface="Arial" panose="020B0604020202020204" pitchFamily="34" charset="0"/>
              <a:buChar char="•"/>
            </a:pPr>
            <a:r>
              <a:rPr lang="en-US" sz="2400"/>
              <a:t>Matrix Multiplication </a:t>
            </a:r>
          </a:p>
          <a:p>
            <a:pPr marL="342900" lvl="0" indent="-342900">
              <a:buFont typeface="Arial" panose="020B0604020202020204" pitchFamily="34" charset="0"/>
              <a:buChar char="•"/>
            </a:pPr>
            <a:r>
              <a:rPr lang="en-US" sz="2400"/>
              <a:t>Scalar Multiplication</a:t>
            </a:r>
          </a:p>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F</a:t>
            </a:r>
            <a:r>
              <a:rPr lang="en-IN" sz="2400" err="1">
                <a:latin typeface="Times New Roman" panose="02020603050405020304" pitchFamily="18" charset="0"/>
                <a:cs typeface="Times New Roman" panose="02020603050405020304" pitchFamily="18" charset="0"/>
              </a:rPr>
              <a:t>unctions</a:t>
            </a:r>
            <a:r>
              <a:rPr lang="en-IN" sz="2400">
                <a:latin typeface="Times New Roman" panose="02020603050405020304" pitchFamily="18" charset="0"/>
                <a:cs typeface="Times New Roman" panose="02020603050405020304" pitchFamily="18" charset="0"/>
              </a:rPr>
              <a:t>:</a:t>
            </a:r>
          </a:p>
          <a:p>
            <a:endParaRPr lang="en-IN" sz="2400">
              <a:latin typeface="Times New Roman" panose="02020603050405020304" pitchFamily="18" charset="0"/>
              <a:cs typeface="Times New Roman" panose="02020603050405020304" pitchFamily="18" charset="0"/>
            </a:endParaRPr>
          </a:p>
          <a:p>
            <a:endParaRPr lang="en-IN" sz="2400">
              <a:latin typeface="Times New Roman" panose="02020603050405020304" pitchFamily="18" charset="0"/>
              <a:cs typeface="Times New Roman" panose="02020603050405020304" pitchFamily="18" charset="0"/>
            </a:endParaRPr>
          </a:p>
          <a:p>
            <a:endParaRPr lang="en-IN" sz="2400">
              <a:latin typeface="Times New Roman" panose="02020603050405020304" pitchFamily="18" charset="0"/>
              <a:cs typeface="Times New Roman" panose="02020603050405020304" pitchFamily="18" charset="0"/>
            </a:endParaRPr>
          </a:p>
          <a:p>
            <a:endParaRPr lang="en-IN"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IN" sz="2400">
              <a:latin typeface="Times New Roman" panose="02020603050405020304" pitchFamily="18" charset="0"/>
              <a:cs typeface="Times New Roman" panose="02020603050405020304" pitchFamily="18" charset="0"/>
            </a:endParaRPr>
          </a:p>
          <a:p>
            <a:endParaRPr lang="en-IN"/>
          </a:p>
        </p:txBody>
      </p:sp>
      <p:sp>
        <p:nvSpPr>
          <p:cNvPr id="1048625" name="Rectangle 4"/>
          <p:cNvSpPr>
            <a:spLocks noChangeArrowheads="1"/>
          </p:cNvSpPr>
          <p:nvPr/>
        </p:nvSpPr>
        <p:spPr bwMode="auto">
          <a:xfrm>
            <a:off x="6880485" y="4129087"/>
            <a:ext cx="1763753" cy="2031325"/>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lvl="0"/>
            <a:endParaRPr lang="en-US"/>
          </a:p>
          <a:p>
            <a:pPr lvl="0"/>
            <a:endParaRPr lang="en-US"/>
          </a:p>
          <a:p>
            <a:pPr lvl="0"/>
            <a:r>
              <a:rPr lang="en-US" err="1"/>
              <a:t>addMatrix</a:t>
            </a:r>
            <a:r>
              <a:rPr lang="en-US"/>
              <a:t>() </a:t>
            </a:r>
          </a:p>
          <a:p>
            <a:pPr lvl="0"/>
            <a:r>
              <a:rPr lang="en-US" err="1"/>
              <a:t>subtractMatrix</a:t>
            </a:r>
            <a:r>
              <a:rPr lang="en-US"/>
              <a:t>() </a:t>
            </a:r>
          </a:p>
          <a:p>
            <a:pPr lvl="0"/>
            <a:r>
              <a:rPr lang="en-US" err="1"/>
              <a:t>multiplyMatrix</a:t>
            </a:r>
            <a:r>
              <a:rPr lang="en-US"/>
              <a:t>() </a:t>
            </a:r>
          </a:p>
          <a:p>
            <a:pPr lvl="0"/>
            <a:r>
              <a:rPr lang="en-US" err="1"/>
              <a:t>scalarMultiply</a:t>
            </a:r>
            <a:r>
              <a:rPr lang="en-US"/>
              <a:t>()</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Content Placeholder 1"/>
          <p:cNvSpPr>
            <a:spLocks noGrp="1"/>
          </p:cNvSpPr>
          <p:nvPr>
            <p:ph/>
          </p:nvPr>
        </p:nvSpPr>
        <p:spPr>
          <a:xfrm>
            <a:off x="511898" y="1440241"/>
            <a:ext cx="10515600" cy="4531419"/>
          </a:xfrm>
        </p:spPr>
        <p:txBody>
          <a:bodyPr>
            <a:normAutofit/>
          </a:bodyPr>
          <a:lstStyle/>
          <a:p>
            <a:r>
              <a:rPr lang="en-US" b="1"/>
              <a:t>3. Transpose Module</a:t>
            </a:r>
            <a:endParaRPr lang="en-US"/>
          </a:p>
          <a:p>
            <a:pPr marL="914400" lvl="0" indent="-457200">
              <a:buFont typeface="Arial" panose="020B0604020202020204" pitchFamily="34" charset="0"/>
              <a:buChar char="•"/>
            </a:pPr>
            <a:r>
              <a:rPr lang="en-US" sz="2400"/>
              <a:t>Calculate transpose of a matrix </a:t>
            </a:r>
          </a:p>
          <a:p>
            <a:pPr marL="914400" lvl="0" indent="-457200">
              <a:buFont typeface="Arial" panose="020B0604020202020204" pitchFamily="34" charset="0"/>
              <a:buChar char="•"/>
            </a:pPr>
            <a:r>
              <a:rPr lang="en-US" sz="2400"/>
              <a:t>Convert rows into columns </a:t>
            </a:r>
          </a:p>
          <a:p>
            <a:pPr marL="914400" lvl="0" indent="-457200">
              <a:buFont typeface="Arial" panose="020B0604020202020204" pitchFamily="34" charset="0"/>
              <a:buChar char="•"/>
            </a:pPr>
            <a:r>
              <a:rPr lang="en-US" sz="2400"/>
              <a:t>Display transposed matrix</a:t>
            </a:r>
          </a:p>
          <a:p>
            <a:endParaRPr lang="en-IN" b="1">
              <a:latin typeface="Times New Roman" panose="02020603050405020304" pitchFamily="18" charset="0"/>
              <a:cs typeface="Times New Roman" panose="02020603050405020304" pitchFamily="18" charset="0"/>
            </a:endParaRPr>
          </a:p>
        </p:txBody>
      </p:sp>
      <p:grpSp>
        <p:nvGrpSpPr>
          <p:cNvPr id="51" name="object 3"/>
          <p:cNvGrpSpPr/>
          <p:nvPr/>
        </p:nvGrpSpPr>
        <p:grpSpPr>
          <a:xfrm>
            <a:off x="3424237" y="165549"/>
            <a:ext cx="5103904" cy="1198311"/>
            <a:chOff x="2648188" y="47148"/>
            <a:chExt cx="5103904" cy="1198311"/>
          </a:xfrm>
        </p:grpSpPr>
        <p:pic>
          <p:nvPicPr>
            <p:cNvPr id="2097175" name="object 4"/>
            <p:cNvPicPr>
              <a:picLocks/>
            </p:cNvPicPr>
            <p:nvPr/>
          </p:nvPicPr>
          <p:blipFill>
            <a:blip r:embed="rId2" cstate="print"/>
            <a:stretch>
              <a:fillRect/>
            </a:stretch>
          </p:blipFill>
          <p:spPr>
            <a:xfrm>
              <a:off x="2648188" y="47148"/>
              <a:ext cx="5103904" cy="1198311"/>
            </a:xfrm>
            <a:prstGeom prst="rect">
              <a:avLst/>
            </a:prstGeom>
          </p:spPr>
        </p:pic>
        <p:pic>
          <p:nvPicPr>
            <p:cNvPr id="2097176" name="object 5"/>
            <p:cNvPicPr>
              <a:picLocks/>
            </p:cNvPicPr>
            <p:nvPr/>
          </p:nvPicPr>
          <p:blipFill>
            <a:blip r:embed="rId3" cstate="print"/>
            <a:stretch>
              <a:fillRect/>
            </a:stretch>
          </p:blipFill>
          <p:spPr>
            <a:xfrm>
              <a:off x="2703195" y="86439"/>
              <a:ext cx="4997767" cy="1092279"/>
            </a:xfrm>
            <a:prstGeom prst="rect">
              <a:avLst/>
            </a:prstGeom>
          </p:spPr>
        </p:pic>
        <p:pic>
          <p:nvPicPr>
            <p:cNvPr id="2097177" name="object 6"/>
            <p:cNvPicPr>
              <a:picLocks/>
            </p:cNvPicPr>
            <p:nvPr/>
          </p:nvPicPr>
          <p:blipFill>
            <a:blip r:embed="rId4" cstate="print"/>
            <a:stretch>
              <a:fillRect/>
            </a:stretch>
          </p:blipFill>
          <p:spPr>
            <a:xfrm>
              <a:off x="2828925" y="243549"/>
              <a:ext cx="4585268" cy="522565"/>
            </a:xfrm>
            <a:prstGeom prst="rect">
              <a:avLst/>
            </a:prstGeom>
          </p:spPr>
        </p:pic>
        <p:sp>
          <p:nvSpPr>
            <p:cNvPr id="104862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28" name="TextBox 7"/>
          <p:cNvSpPr txBox="1"/>
          <p:nvPr/>
        </p:nvSpPr>
        <p:spPr>
          <a:xfrm>
            <a:off x="4193455" y="347962"/>
            <a:ext cx="3408305"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 &amp;Functions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29" name="Rectangle 2"/>
          <p:cNvSpPr>
            <a:spLocks noChangeArrowheads="1"/>
          </p:cNvSpPr>
          <p:nvPr/>
        </p:nvSpPr>
        <p:spPr bwMode="auto">
          <a:xfrm>
            <a:off x="1164502" y="4475391"/>
            <a:ext cx="2462213" cy="769441"/>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sz="2000"/>
              <a:t>.</a:t>
            </a:r>
            <a:r>
              <a:rPr lang="en-US" sz="2000" err="1"/>
              <a:t>transposeMatrix</a:t>
            </a:r>
            <a:r>
              <a:rPr lang="en-US" sz="2000"/>
              <a:t>()</a:t>
            </a:r>
            <a:endPar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48630" name="TextBox 10"/>
          <p:cNvSpPr txBox="1"/>
          <p:nvPr/>
        </p:nvSpPr>
        <p:spPr>
          <a:xfrm>
            <a:off x="6986107" y="1311107"/>
            <a:ext cx="3938899" cy="3847207"/>
          </a:xfrm>
          <a:prstGeom prst="rect">
            <a:avLst/>
          </a:prstGeom>
          <a:noFill/>
        </p:spPr>
        <p:txBody>
          <a:bodyPr wrap="square" rtlCol="0">
            <a:spAutoFit/>
          </a:bodyPr>
          <a:lstStyle/>
          <a:p>
            <a:r>
              <a:rPr lang="en-US" sz="2400"/>
              <a:t>4</a:t>
            </a:r>
            <a:r>
              <a:rPr lang="en-US" sz="2800" b="1"/>
              <a:t>. Validation Module</a:t>
            </a:r>
            <a:endParaRPr lang="en-US" sz="2800"/>
          </a:p>
          <a:p>
            <a:pPr marL="342900" lvl="0" indent="-342900">
              <a:buFont typeface="Arial" panose="020B0604020202020204" pitchFamily="34" charset="0"/>
              <a:buChar char="•"/>
            </a:pPr>
            <a:r>
              <a:rPr lang="en-US" sz="2400"/>
              <a:t>Check matrix dimensions </a:t>
            </a:r>
          </a:p>
          <a:p>
            <a:pPr marL="342900" lvl="0" indent="-342900">
              <a:buFont typeface="Arial" panose="020B0604020202020204" pitchFamily="34" charset="0"/>
              <a:buChar char="•"/>
            </a:pPr>
            <a:r>
              <a:rPr lang="en-US" sz="2400"/>
              <a:t>Validate addition/subtraction condition </a:t>
            </a:r>
          </a:p>
          <a:p>
            <a:pPr marL="342900" lvl="0" indent="-342900">
              <a:buFont typeface="Arial" panose="020B0604020202020204" pitchFamily="34" charset="0"/>
              <a:buChar char="•"/>
            </a:pPr>
            <a:r>
              <a:rPr lang="en-US" sz="2400"/>
              <a:t>Validate multiplication condition </a:t>
            </a:r>
          </a:p>
          <a:p>
            <a:pPr marL="342900" lvl="0" indent="-342900">
              <a:buFont typeface="Arial" panose="020B0604020202020204" pitchFamily="34" charset="0"/>
              <a:buChar char="•"/>
            </a:pPr>
            <a:r>
              <a:rPr lang="en-US" sz="2400"/>
              <a:t>Display appropriate error messages </a:t>
            </a:r>
          </a:p>
          <a:p>
            <a:endParaRPr lang="en-US" sz="2400"/>
          </a:p>
        </p:txBody>
      </p:sp>
      <p:sp>
        <p:nvSpPr>
          <p:cNvPr id="1048631" name="Rectangle 4"/>
          <p:cNvSpPr>
            <a:spLocks noChangeArrowheads="1"/>
          </p:cNvSpPr>
          <p:nvPr/>
        </p:nvSpPr>
        <p:spPr bwMode="auto">
          <a:xfrm>
            <a:off x="7360629" y="4861181"/>
            <a:ext cx="2502608" cy="1661993"/>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err="1"/>
              <a:t>validateDimensions</a:t>
            </a:r>
            <a:r>
              <a:rPr lang="en-US"/>
              <a:t>()</a:t>
            </a:r>
            <a:r>
              <a:rPr lang="en-US" sz="2000"/>
              <a:t> </a:t>
            </a:r>
          </a:p>
          <a:p>
            <a:pPr marL="285750" lvl="0" indent="-285750">
              <a:buFont typeface="Arial" panose="020B0604020202020204" pitchFamily="34" charset="0"/>
              <a:buChar char="•"/>
            </a:pPr>
            <a:r>
              <a:rPr lang="en-US" err="1"/>
              <a:t>checkAddition</a:t>
            </a:r>
            <a:r>
              <a:rPr lang="en-US"/>
              <a:t>()</a:t>
            </a:r>
            <a:r>
              <a:rPr lang="en-US" sz="2000"/>
              <a:t> </a:t>
            </a:r>
          </a:p>
          <a:p>
            <a:pPr marL="285750" lvl="0" indent="-285750">
              <a:buFont typeface="Arial" panose="020B0604020202020204" pitchFamily="34" charset="0"/>
              <a:buChar char="•"/>
            </a:pPr>
            <a:r>
              <a:rPr lang="en-US" err="1"/>
              <a:t>checkMultiplication</a:t>
            </a:r>
            <a:r>
              <a:rPr lang="en-US"/>
              <a:t>()</a:t>
            </a:r>
            <a:endParaRPr lang="en-US" sz="2000"/>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object 3"/>
          <p:cNvGrpSpPr/>
          <p:nvPr/>
        </p:nvGrpSpPr>
        <p:grpSpPr>
          <a:xfrm>
            <a:off x="3424237" y="165549"/>
            <a:ext cx="5103904" cy="1198311"/>
            <a:chOff x="2648188" y="47148"/>
            <a:chExt cx="5103904" cy="1198311"/>
          </a:xfrm>
        </p:grpSpPr>
        <p:pic>
          <p:nvPicPr>
            <p:cNvPr id="2097179" name="object 4"/>
            <p:cNvPicPr>
              <a:picLocks/>
            </p:cNvPicPr>
            <p:nvPr/>
          </p:nvPicPr>
          <p:blipFill>
            <a:blip r:embed="rId2" cstate="print"/>
            <a:stretch>
              <a:fillRect/>
            </a:stretch>
          </p:blipFill>
          <p:spPr>
            <a:xfrm>
              <a:off x="2648188" y="47148"/>
              <a:ext cx="5103904" cy="1198311"/>
            </a:xfrm>
            <a:prstGeom prst="rect">
              <a:avLst/>
            </a:prstGeom>
          </p:spPr>
        </p:pic>
        <p:pic>
          <p:nvPicPr>
            <p:cNvPr id="2097180" name="object 5"/>
            <p:cNvPicPr>
              <a:picLocks/>
            </p:cNvPicPr>
            <p:nvPr/>
          </p:nvPicPr>
          <p:blipFill>
            <a:blip r:embed="rId3" cstate="print"/>
            <a:stretch>
              <a:fillRect/>
            </a:stretch>
          </p:blipFill>
          <p:spPr>
            <a:xfrm>
              <a:off x="2703195" y="86439"/>
              <a:ext cx="4997767" cy="1092279"/>
            </a:xfrm>
            <a:prstGeom prst="rect">
              <a:avLst/>
            </a:prstGeom>
          </p:spPr>
        </p:pic>
        <p:pic>
          <p:nvPicPr>
            <p:cNvPr id="2097181" name="object 6"/>
            <p:cNvPicPr>
              <a:picLocks/>
            </p:cNvPicPr>
            <p:nvPr/>
          </p:nvPicPr>
          <p:blipFill>
            <a:blip r:embed="rId4" cstate="print"/>
            <a:stretch>
              <a:fillRect/>
            </a:stretch>
          </p:blipFill>
          <p:spPr>
            <a:xfrm>
              <a:off x="2828925" y="243549"/>
              <a:ext cx="4585268" cy="522565"/>
            </a:xfrm>
            <a:prstGeom prst="rect">
              <a:avLst/>
            </a:prstGeom>
          </p:spPr>
        </p:pic>
        <p:sp>
          <p:nvSpPr>
            <p:cNvPr id="1048635"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36" name="TextBox 6"/>
          <p:cNvSpPr txBox="1"/>
          <p:nvPr/>
        </p:nvSpPr>
        <p:spPr>
          <a:xfrm>
            <a:off x="4577375" y="307230"/>
            <a:ext cx="2640466"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37" name="TextBox 7"/>
          <p:cNvSpPr txBox="1"/>
          <p:nvPr/>
        </p:nvSpPr>
        <p:spPr>
          <a:xfrm>
            <a:off x="174449" y="1924995"/>
            <a:ext cx="7635552" cy="3323987"/>
          </a:xfrm>
          <a:prstGeom prst="rect">
            <a:avLst/>
          </a:prstGeom>
          <a:noFill/>
        </p:spPr>
        <p:txBody>
          <a:bodyPr wrap="none" rtlCol="0">
            <a:spAutoFit/>
          </a:bodyPr>
          <a:lstStyle/>
          <a:p>
            <a:pPr marL="285750" lvl="0" indent="-285750">
              <a:buFont typeface="Arial" panose="020B0604020202020204" pitchFamily="34" charset="0"/>
              <a:buChar char="•"/>
            </a:pPr>
            <a:r>
              <a:rPr lang="en-US" sz="2400"/>
              <a:t>Developed using </a:t>
            </a:r>
            <a:r>
              <a:rPr lang="en-US" sz="2400" b="1"/>
              <a:t>C++</a:t>
            </a:r>
            <a:r>
              <a:rPr lang="en-US" sz="2400"/>
              <a:t> programming language. </a:t>
            </a:r>
          </a:p>
          <a:p>
            <a:pPr marL="285750" lvl="0" indent="-285750">
              <a:buFont typeface="Arial" panose="020B0604020202020204" pitchFamily="34" charset="0"/>
              <a:buChar char="•"/>
            </a:pPr>
            <a:r>
              <a:rPr lang="en-US" sz="2400"/>
              <a:t>Implemented matrix representation using </a:t>
            </a:r>
            <a:r>
              <a:rPr lang="en-US" sz="2400" b="1"/>
              <a:t>2D arrays</a:t>
            </a:r>
            <a:r>
              <a:rPr lang="en-US" sz="2400"/>
              <a:t>. </a:t>
            </a:r>
          </a:p>
          <a:p>
            <a:pPr marL="285750" lvl="0" indent="-285750">
              <a:buFont typeface="Arial" panose="020B0604020202020204" pitchFamily="34" charset="0"/>
              <a:buChar char="•"/>
            </a:pPr>
            <a:r>
              <a:rPr lang="en-US" sz="2400"/>
              <a:t>Implemented matrix addition and multiplication. </a:t>
            </a:r>
          </a:p>
          <a:p>
            <a:pPr marL="285750" lvl="0" indent="-285750">
              <a:buFont typeface="Arial" panose="020B0604020202020204" pitchFamily="34" charset="0"/>
              <a:buChar char="•"/>
            </a:pPr>
            <a:r>
              <a:rPr lang="en-US" sz="2400"/>
              <a:t>Implemented matrix transpose. </a:t>
            </a:r>
          </a:p>
          <a:p>
            <a:pPr marL="285750" lvl="0" indent="-285750">
              <a:buFont typeface="Arial" panose="020B0604020202020204" pitchFamily="34" charset="0"/>
              <a:buChar char="•"/>
            </a:pPr>
            <a:r>
              <a:rPr lang="en-US" sz="2400"/>
              <a:t>Implemented dimension validation. </a:t>
            </a:r>
          </a:p>
          <a:p>
            <a:pPr marL="285750" lvl="0" indent="-285750">
              <a:buFont typeface="Arial" panose="020B0604020202020204" pitchFamily="34" charset="0"/>
              <a:buChar char="•"/>
            </a:pPr>
            <a:r>
              <a:rPr lang="en-US" sz="2400"/>
              <a:t>Integrated all operations through a </a:t>
            </a:r>
            <a:r>
              <a:rPr lang="en-US" sz="2400" b="1"/>
              <a:t>menu-driven system.</a:t>
            </a:r>
            <a:r>
              <a:rPr lang="en-US" sz="2400"/>
              <a:t> </a:t>
            </a:r>
          </a:p>
          <a:p>
            <a:pPr marL="285750" lvl="0" indent="-285750">
              <a:buFont typeface="Arial" panose="020B0604020202020204" pitchFamily="34" charset="0"/>
              <a:buChar char="•"/>
            </a:pPr>
            <a:r>
              <a:rPr lang="en-US" sz="2400"/>
              <a:t>Used functions to organize different matrix operations. </a:t>
            </a:r>
          </a:p>
          <a:p>
            <a:pPr marL="285750" lvl="0" indent="-285750">
              <a:buFont typeface="Arial" panose="020B0604020202020204" pitchFamily="34" charset="0"/>
              <a:buChar char="•"/>
            </a:pPr>
            <a:r>
              <a:rPr lang="en-US" sz="2400"/>
              <a:t>Tested the system using sample matrix values.</a:t>
            </a:r>
          </a:p>
          <a:p>
            <a:endParaRPr lang="en-US"/>
          </a:p>
        </p:txBody>
      </p:sp>
      <p:pic>
        <p:nvPicPr>
          <p:cNvPr id="2097182" name="Picture 11"/>
          <p:cNvPicPr>
            <a:picLocks noChangeAspect="1"/>
          </p:cNvPicPr>
          <p:nvPr/>
        </p:nvPicPr>
        <p:blipFill>
          <a:blip r:embed="rId5"/>
          <a:stretch>
            <a:fillRect/>
          </a:stretch>
        </p:blipFill>
        <p:spPr>
          <a:xfrm>
            <a:off x="7621732" y="1336409"/>
            <a:ext cx="4152900" cy="29446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object 3"/>
          <p:cNvGrpSpPr/>
          <p:nvPr/>
        </p:nvGrpSpPr>
        <p:grpSpPr>
          <a:xfrm>
            <a:off x="3424237" y="165549"/>
            <a:ext cx="5103904" cy="1198311"/>
            <a:chOff x="2648188" y="47148"/>
            <a:chExt cx="5103904" cy="1198311"/>
          </a:xfrm>
        </p:grpSpPr>
        <p:pic>
          <p:nvPicPr>
            <p:cNvPr id="2097183" name="object 4"/>
            <p:cNvPicPr>
              <a:picLocks/>
            </p:cNvPicPr>
            <p:nvPr/>
          </p:nvPicPr>
          <p:blipFill>
            <a:blip r:embed="rId2" cstate="print"/>
            <a:stretch>
              <a:fillRect/>
            </a:stretch>
          </p:blipFill>
          <p:spPr>
            <a:xfrm>
              <a:off x="2648188" y="47148"/>
              <a:ext cx="5103904" cy="1198311"/>
            </a:xfrm>
            <a:prstGeom prst="rect">
              <a:avLst/>
            </a:prstGeom>
          </p:spPr>
        </p:pic>
        <p:pic>
          <p:nvPicPr>
            <p:cNvPr id="2097184" name="object 5"/>
            <p:cNvPicPr>
              <a:picLocks/>
            </p:cNvPicPr>
            <p:nvPr/>
          </p:nvPicPr>
          <p:blipFill>
            <a:blip r:embed="rId3" cstate="print"/>
            <a:stretch>
              <a:fillRect/>
            </a:stretch>
          </p:blipFill>
          <p:spPr>
            <a:xfrm>
              <a:off x="2703195" y="86439"/>
              <a:ext cx="4997767" cy="1092279"/>
            </a:xfrm>
            <a:prstGeom prst="rect">
              <a:avLst/>
            </a:prstGeom>
          </p:spPr>
        </p:pic>
        <p:pic>
          <p:nvPicPr>
            <p:cNvPr id="2097185" name="object 6"/>
            <p:cNvPicPr>
              <a:picLocks/>
            </p:cNvPicPr>
            <p:nvPr/>
          </p:nvPicPr>
          <p:blipFill>
            <a:blip r:embed="rId4" cstate="print"/>
            <a:stretch>
              <a:fillRect/>
            </a:stretch>
          </p:blipFill>
          <p:spPr>
            <a:xfrm>
              <a:off x="2828925" y="243549"/>
              <a:ext cx="4585268" cy="522565"/>
            </a:xfrm>
            <a:prstGeom prst="rect">
              <a:avLst/>
            </a:prstGeom>
          </p:spPr>
        </p:pic>
        <p:sp>
          <p:nvSpPr>
            <p:cNvPr id="1048638"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39" name="TextBox 6"/>
          <p:cNvSpPr txBox="1"/>
          <p:nvPr/>
        </p:nvSpPr>
        <p:spPr>
          <a:xfrm>
            <a:off x="4371422" y="361295"/>
            <a:ext cx="3209533"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 Concepts Used</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40" name="TextBox 7"/>
          <p:cNvSpPr txBox="1"/>
          <p:nvPr/>
        </p:nvSpPr>
        <p:spPr>
          <a:xfrm>
            <a:off x="992096" y="1336410"/>
            <a:ext cx="5103904" cy="4154984"/>
          </a:xfrm>
          <a:prstGeom prst="rect">
            <a:avLst/>
          </a:prstGeom>
          <a:noFill/>
        </p:spPr>
        <p:txBody>
          <a:bodyPr wrap="square" rtlCol="0">
            <a:spAutoFit/>
          </a:bodyPr>
          <a:lstStyle/>
          <a:p>
            <a:pPr lvl="0" eaLnBrk="0" fontAlgn="base" hangingPunct="0">
              <a:spcBef>
                <a:spcPct val="0"/>
              </a:spcBef>
              <a:spcAft>
                <a:spcPct val="0"/>
              </a:spcAft>
            </a:pPr>
            <a:r>
              <a:rPr lang="en-US" altLang="en-US" sz="2400" b="1">
                <a:latin typeface="Times New Roman" panose="02020603050405020304" pitchFamily="18" charset="0"/>
                <a:cs typeface="Times New Roman" panose="02020603050405020304" pitchFamily="18" charset="0"/>
              </a:rPr>
              <a:t>Object-Oriented Programming</a:t>
            </a:r>
          </a:p>
          <a:p>
            <a:pPr lvl="0" eaLnBrk="0" fontAlgn="base" hangingPunct="0">
              <a:spcBef>
                <a:spcPct val="0"/>
              </a:spcBef>
              <a:spcAft>
                <a:spcPct val="0"/>
              </a:spcAft>
            </a:pPr>
            <a:endParaRPr lang="en-US" altLang="en-US" sz="2400" b="1">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a:t>2D Arrays </a:t>
            </a:r>
          </a:p>
          <a:p>
            <a:pPr marL="342900" lvl="0" indent="-342900">
              <a:buFont typeface="Arial" panose="020B0604020202020204" pitchFamily="34" charset="0"/>
              <a:buChar char="•"/>
            </a:pPr>
            <a:r>
              <a:rPr lang="en-US" sz="2400"/>
              <a:t>Functions </a:t>
            </a:r>
          </a:p>
          <a:p>
            <a:pPr marL="342900" lvl="0" indent="-342900">
              <a:buFont typeface="Arial" panose="020B0604020202020204" pitchFamily="34" charset="0"/>
              <a:buChar char="•"/>
            </a:pPr>
            <a:r>
              <a:rPr lang="en-US" sz="2400"/>
              <a:t>Variables </a:t>
            </a:r>
          </a:p>
          <a:p>
            <a:pPr marL="342900" lvl="0" indent="-342900">
              <a:buFont typeface="Arial" panose="020B0604020202020204" pitchFamily="34" charset="0"/>
              <a:buChar char="•"/>
            </a:pPr>
            <a:r>
              <a:rPr lang="en-US" sz="2400"/>
              <a:t>Input / Output </a:t>
            </a:r>
          </a:p>
          <a:p>
            <a:pPr marL="342900" lvl="0" indent="-342900">
              <a:buFont typeface="Arial" panose="020B0604020202020204" pitchFamily="34" charset="0"/>
              <a:buChar char="•"/>
            </a:pPr>
            <a:r>
              <a:rPr lang="en-US" sz="2400"/>
              <a:t>Nested Loops </a:t>
            </a:r>
          </a:p>
          <a:p>
            <a:pPr marL="342900" lvl="0" indent="-342900">
              <a:buFont typeface="Arial" panose="020B0604020202020204" pitchFamily="34" charset="0"/>
              <a:buChar char="•"/>
            </a:pPr>
            <a:r>
              <a:rPr lang="en-US" sz="2400"/>
              <a:t>Switch-case </a:t>
            </a:r>
          </a:p>
          <a:p>
            <a:pPr marL="342900" lvl="0" indent="-342900">
              <a:buFont typeface="Arial" panose="020B0604020202020204" pitchFamily="34" charset="0"/>
              <a:buChar char="•"/>
            </a:pPr>
            <a:r>
              <a:rPr lang="en-US" sz="2400"/>
              <a:t>Conditional Statements </a:t>
            </a:r>
          </a:p>
          <a:p>
            <a:pPr lvl="0" eaLnBrk="0" fontAlgn="base" hangingPunct="0">
              <a:spcBef>
                <a:spcPct val="0"/>
              </a:spcBef>
              <a:spcAft>
                <a:spcPct val="0"/>
              </a:spcAft>
            </a:pPr>
            <a:endParaRPr lang="en-US" altLang="en-US" sz="2400">
              <a:latin typeface="Times New Roman" panose="02020603050405020304" pitchFamily="18" charset="0"/>
              <a:cs typeface="Times New Roman" panose="02020603050405020304" pitchFamily="18" charset="0"/>
            </a:endParaRPr>
          </a:p>
          <a:p>
            <a:endParaRPr lang="en-IN" sz="2400">
              <a:latin typeface="Times New Roman" panose="02020603050405020304" pitchFamily="18" charset="0"/>
              <a:cs typeface="Times New Roman" panose="02020603050405020304" pitchFamily="18" charset="0"/>
            </a:endParaRPr>
          </a:p>
        </p:txBody>
      </p:sp>
      <p:sp>
        <p:nvSpPr>
          <p:cNvPr id="1048641" name="TextBox 8"/>
          <p:cNvSpPr txBox="1"/>
          <p:nvPr/>
        </p:nvSpPr>
        <p:spPr>
          <a:xfrm>
            <a:off x="6594378" y="1297119"/>
            <a:ext cx="4778183" cy="3046988"/>
          </a:xfrm>
          <a:prstGeom prst="rect">
            <a:avLst/>
          </a:prstGeom>
          <a:noFill/>
        </p:spPr>
        <p:txBody>
          <a:bodyPr wrap="square" rtlCol="0">
            <a:spAutoFit/>
          </a:bodyPr>
          <a:lstStyle/>
          <a:p>
            <a:pPr lvl="0" eaLnBrk="0" fontAlgn="base" hangingPunct="0">
              <a:spcBef>
                <a:spcPct val="0"/>
              </a:spcBef>
              <a:spcAft>
                <a:spcPct val="0"/>
              </a:spcAft>
            </a:pPr>
            <a:r>
              <a:rPr lang="en-US" altLang="en-US" sz="2400" b="1">
                <a:latin typeface="Times New Roman" panose="02020603050405020304" pitchFamily="18" charset="0"/>
                <a:cs typeface="Times New Roman" panose="02020603050405020304" pitchFamily="18" charset="0"/>
              </a:rPr>
              <a:t>Other C++ Concepts</a:t>
            </a:r>
          </a:p>
          <a:p>
            <a:pPr lvl="0" eaLnBrk="0" fontAlgn="base" hangingPunct="0">
              <a:spcBef>
                <a:spcPct val="0"/>
              </a:spcBef>
              <a:spcAft>
                <a:spcPct val="0"/>
              </a:spcAft>
            </a:pPr>
            <a:endParaRPr lang="en-US" altLang="en-US" sz="2400" b="1">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a:t>Classes and Objects </a:t>
            </a:r>
          </a:p>
          <a:p>
            <a:pPr marL="342900" lvl="0" indent="-342900">
              <a:buFont typeface="Arial" panose="020B0604020202020204" pitchFamily="34" charset="0"/>
              <a:buChar char="•"/>
            </a:pPr>
            <a:r>
              <a:rPr lang="en-US" sz="2400"/>
              <a:t>Member Functions </a:t>
            </a:r>
          </a:p>
          <a:p>
            <a:pPr marL="342900" lvl="0" indent="-342900">
              <a:buFont typeface="Arial" panose="020B0604020202020204" pitchFamily="34" charset="0"/>
              <a:buChar char="•"/>
            </a:pPr>
            <a:r>
              <a:rPr lang="en-US" sz="2400"/>
              <a:t>Encapsulation </a:t>
            </a:r>
          </a:p>
          <a:p>
            <a:pPr marL="342900" lvl="0" indent="-342900">
              <a:buFont typeface="Arial" panose="020B0604020202020204" pitchFamily="34" charset="0"/>
              <a:buChar char="•"/>
            </a:pPr>
            <a:r>
              <a:rPr lang="en-US" sz="2400"/>
              <a:t>Constructors </a:t>
            </a:r>
          </a:p>
          <a:p>
            <a:pPr marL="342900" lvl="0" indent="-342900">
              <a:buFont typeface="Arial" panose="020B0604020202020204" pitchFamily="34" charset="0"/>
              <a:buChar char="•"/>
            </a:pPr>
            <a:r>
              <a:rPr lang="en-US" sz="2400"/>
              <a:t>Input Validation</a:t>
            </a:r>
          </a:p>
          <a:p>
            <a:endParaRPr lang="en-IN"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object 3"/>
          <p:cNvGrpSpPr/>
          <p:nvPr/>
        </p:nvGrpSpPr>
        <p:grpSpPr>
          <a:xfrm>
            <a:off x="3604744" y="150218"/>
            <a:ext cx="5103904" cy="1198311"/>
            <a:chOff x="2648188" y="47148"/>
            <a:chExt cx="5103904" cy="1198311"/>
          </a:xfrm>
        </p:grpSpPr>
        <p:pic>
          <p:nvPicPr>
            <p:cNvPr id="2097186" name="object 4"/>
            <p:cNvPicPr>
              <a:picLocks/>
            </p:cNvPicPr>
            <p:nvPr/>
          </p:nvPicPr>
          <p:blipFill>
            <a:blip r:embed="rId2" cstate="print"/>
            <a:stretch>
              <a:fillRect/>
            </a:stretch>
          </p:blipFill>
          <p:spPr>
            <a:xfrm>
              <a:off x="2648188" y="47148"/>
              <a:ext cx="5103904" cy="1198311"/>
            </a:xfrm>
            <a:prstGeom prst="rect">
              <a:avLst/>
            </a:prstGeom>
          </p:spPr>
        </p:pic>
        <p:pic>
          <p:nvPicPr>
            <p:cNvPr id="2097187" name="object 5"/>
            <p:cNvPicPr>
              <a:picLocks/>
            </p:cNvPicPr>
            <p:nvPr/>
          </p:nvPicPr>
          <p:blipFill>
            <a:blip r:embed="rId3" cstate="print"/>
            <a:stretch>
              <a:fillRect/>
            </a:stretch>
          </p:blipFill>
          <p:spPr>
            <a:xfrm>
              <a:off x="2703195" y="86439"/>
              <a:ext cx="4997767" cy="1092279"/>
            </a:xfrm>
            <a:prstGeom prst="rect">
              <a:avLst/>
            </a:prstGeom>
          </p:spPr>
        </p:pic>
        <p:pic>
          <p:nvPicPr>
            <p:cNvPr id="2097188" name="object 6"/>
            <p:cNvPicPr>
              <a:picLocks/>
            </p:cNvPicPr>
            <p:nvPr/>
          </p:nvPicPr>
          <p:blipFill>
            <a:blip r:embed="rId4" cstate="print"/>
            <a:stretch>
              <a:fillRect/>
            </a:stretch>
          </p:blipFill>
          <p:spPr>
            <a:xfrm>
              <a:off x="2828925" y="243549"/>
              <a:ext cx="4585268" cy="522565"/>
            </a:xfrm>
            <a:prstGeom prst="rect">
              <a:avLst/>
            </a:prstGeom>
          </p:spPr>
        </p:pic>
        <p:sp>
          <p:nvSpPr>
            <p:cNvPr id="1048642"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43" name="TextBox 6"/>
          <p:cNvSpPr txBox="1"/>
          <p:nvPr/>
        </p:nvSpPr>
        <p:spPr>
          <a:xfrm>
            <a:off x="5305138" y="347962"/>
            <a:ext cx="1184940"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Inputs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44" name="TextBox 12"/>
          <p:cNvSpPr txBox="1"/>
          <p:nvPr/>
        </p:nvSpPr>
        <p:spPr>
          <a:xfrm>
            <a:off x="551208" y="1527465"/>
            <a:ext cx="3108543" cy="4524315"/>
          </a:xfrm>
          <a:prstGeom prst="rect">
            <a:avLst/>
          </a:prstGeom>
          <a:noFill/>
        </p:spPr>
        <p:txBody>
          <a:bodyPr wrap="none" rtlCol="0">
            <a:spAutoFit/>
          </a:bodyPr>
          <a:lstStyle/>
          <a:p>
            <a:r>
              <a:rPr lang="en-US" sz="2400" b="1"/>
              <a:t>Matrix A</a:t>
            </a:r>
          </a:p>
          <a:p>
            <a:endParaRPr lang="en-US" sz="2400"/>
          </a:p>
          <a:p>
            <a:pPr marL="342900" lvl="0" indent="-342900">
              <a:buFont typeface="Arial" panose="020B0604020202020204" pitchFamily="34" charset="0"/>
              <a:buChar char="•"/>
            </a:pPr>
            <a:r>
              <a:rPr lang="en-US" sz="2400"/>
              <a:t>Number of Rows </a:t>
            </a:r>
          </a:p>
          <a:p>
            <a:pPr marL="342900" lvl="0" indent="-342900">
              <a:buFont typeface="Arial" panose="020B0604020202020204" pitchFamily="34" charset="0"/>
              <a:buChar char="•"/>
            </a:pPr>
            <a:r>
              <a:rPr lang="en-US" sz="2400"/>
              <a:t>Number of Columns </a:t>
            </a:r>
          </a:p>
          <a:p>
            <a:pPr marL="342900" lvl="0" indent="-342900">
              <a:buFont typeface="Arial" panose="020B0604020202020204" pitchFamily="34" charset="0"/>
              <a:buChar char="•"/>
            </a:pPr>
            <a:r>
              <a:rPr lang="en-US" sz="2400"/>
              <a:t>Matrix Elements </a:t>
            </a:r>
          </a:p>
          <a:p>
            <a:pPr lvl="0"/>
            <a:endParaRPr lang="en-US" sz="2400"/>
          </a:p>
          <a:p>
            <a:r>
              <a:rPr lang="en-US" sz="2400" b="1"/>
              <a:t>Matrix B</a:t>
            </a:r>
          </a:p>
          <a:p>
            <a:endParaRPr lang="en-US" sz="2400"/>
          </a:p>
          <a:p>
            <a:pPr marL="342900" lvl="0" indent="-342900">
              <a:buFont typeface="Arial" panose="020B0604020202020204" pitchFamily="34" charset="0"/>
              <a:buChar char="•"/>
            </a:pPr>
            <a:r>
              <a:rPr lang="en-US" sz="2400"/>
              <a:t>Number of Rows </a:t>
            </a:r>
          </a:p>
          <a:p>
            <a:pPr marL="342900" lvl="0" indent="-342900">
              <a:buFont typeface="Arial" panose="020B0604020202020204" pitchFamily="34" charset="0"/>
              <a:buChar char="•"/>
            </a:pPr>
            <a:r>
              <a:rPr lang="en-US" sz="2400"/>
              <a:t>Number of Columns </a:t>
            </a:r>
          </a:p>
          <a:p>
            <a:pPr marL="342900" lvl="0" indent="-342900">
              <a:buFont typeface="Arial" panose="020B0604020202020204" pitchFamily="34" charset="0"/>
              <a:buChar char="•"/>
            </a:pPr>
            <a:r>
              <a:rPr lang="en-US" sz="2400"/>
              <a:t>Matrix Elements </a:t>
            </a:r>
          </a:p>
          <a:p>
            <a:endParaRPr lang="en-US" sz="2400"/>
          </a:p>
        </p:txBody>
      </p:sp>
      <p:sp>
        <p:nvSpPr>
          <p:cNvPr id="1048645" name="TextBox 15"/>
          <p:cNvSpPr txBox="1"/>
          <p:nvPr/>
        </p:nvSpPr>
        <p:spPr>
          <a:xfrm>
            <a:off x="4454638" y="1496342"/>
            <a:ext cx="2720617" cy="2677656"/>
          </a:xfrm>
          <a:prstGeom prst="rect">
            <a:avLst/>
          </a:prstGeom>
          <a:noFill/>
        </p:spPr>
        <p:txBody>
          <a:bodyPr wrap="none" rtlCol="0">
            <a:spAutoFit/>
          </a:bodyPr>
          <a:lstStyle/>
          <a:p>
            <a:r>
              <a:rPr lang="en-US" sz="2400" b="1"/>
              <a:t>Operation Selection</a:t>
            </a:r>
            <a:endParaRPr lang="en-US" sz="2400"/>
          </a:p>
          <a:p>
            <a:pPr lvl="0"/>
            <a:endParaRPr lang="en-US" sz="2400"/>
          </a:p>
          <a:p>
            <a:pPr marL="342900" lvl="0" indent="-342900">
              <a:buFont typeface="Arial" panose="020B0604020202020204" pitchFamily="34" charset="0"/>
              <a:buChar char="•"/>
            </a:pPr>
            <a:r>
              <a:rPr lang="en-US" sz="2400"/>
              <a:t>Addition </a:t>
            </a:r>
          </a:p>
          <a:p>
            <a:pPr marL="342900" lvl="0" indent="-342900">
              <a:buFont typeface="Arial" panose="020B0604020202020204" pitchFamily="34" charset="0"/>
              <a:buChar char="•"/>
            </a:pPr>
            <a:r>
              <a:rPr lang="en-US" sz="2400"/>
              <a:t>Multiplication </a:t>
            </a:r>
          </a:p>
          <a:p>
            <a:pPr marL="342900" lvl="0" indent="-342900">
              <a:buFont typeface="Arial" panose="020B0604020202020204" pitchFamily="34" charset="0"/>
              <a:buChar char="•"/>
            </a:pPr>
            <a:r>
              <a:rPr lang="en-US" sz="2400"/>
              <a:t>Transpose </a:t>
            </a:r>
          </a:p>
          <a:p>
            <a:pPr marL="342900" lvl="0" indent="-342900">
              <a:buFont typeface="Arial" panose="020B0604020202020204" pitchFamily="34" charset="0"/>
              <a:buChar char="•"/>
            </a:pPr>
            <a:r>
              <a:rPr lang="en-US" sz="2400"/>
              <a:t>Exit</a:t>
            </a:r>
          </a:p>
          <a:p>
            <a:endParaRPr lang="en-US" sz="2400"/>
          </a:p>
        </p:txBody>
      </p:sp>
      <p:pic>
        <p:nvPicPr>
          <p:cNvPr id="2097189" name="Picture 17"/>
          <p:cNvPicPr>
            <a:picLocks noChangeAspect="1"/>
          </p:cNvPicPr>
          <p:nvPr/>
        </p:nvPicPr>
        <p:blipFill>
          <a:blip r:embed="rId5"/>
          <a:stretch>
            <a:fillRect/>
          </a:stretch>
        </p:blipFill>
        <p:spPr>
          <a:xfrm>
            <a:off x="7432597" y="907184"/>
            <a:ext cx="4208195" cy="3009900"/>
          </a:xfrm>
          <a:prstGeom prst="rect">
            <a:avLst/>
          </a:prstGeom>
        </p:spPr>
      </p:pic>
      <p:pic>
        <p:nvPicPr>
          <p:cNvPr id="3" name="Picture 2">
            <a:extLst>
              <a:ext uri="{FF2B5EF4-FFF2-40B4-BE49-F238E27FC236}">
                <a16:creationId xmlns:a16="http://schemas.microsoft.com/office/drawing/2014/main" id="{7FFB49F9-837C-89C6-24EA-0114D9511F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32597" y="3955084"/>
            <a:ext cx="4228768" cy="24080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object 3"/>
          <p:cNvGrpSpPr/>
          <p:nvPr/>
        </p:nvGrpSpPr>
        <p:grpSpPr>
          <a:xfrm>
            <a:off x="3424237" y="165549"/>
            <a:ext cx="5103904" cy="1198311"/>
            <a:chOff x="2648188" y="47148"/>
            <a:chExt cx="5103904" cy="1198311"/>
          </a:xfrm>
        </p:grpSpPr>
        <p:pic>
          <p:nvPicPr>
            <p:cNvPr id="2097190" name="object 4"/>
            <p:cNvPicPr>
              <a:picLocks/>
            </p:cNvPicPr>
            <p:nvPr/>
          </p:nvPicPr>
          <p:blipFill>
            <a:blip r:embed="rId2" cstate="print"/>
            <a:stretch>
              <a:fillRect/>
            </a:stretch>
          </p:blipFill>
          <p:spPr>
            <a:xfrm>
              <a:off x="2648188" y="47148"/>
              <a:ext cx="5103904" cy="1198311"/>
            </a:xfrm>
            <a:prstGeom prst="rect">
              <a:avLst/>
            </a:prstGeom>
          </p:spPr>
        </p:pic>
        <p:pic>
          <p:nvPicPr>
            <p:cNvPr id="2097191" name="object 5"/>
            <p:cNvPicPr>
              <a:picLocks/>
            </p:cNvPicPr>
            <p:nvPr/>
          </p:nvPicPr>
          <p:blipFill>
            <a:blip r:embed="rId3" cstate="print"/>
            <a:stretch>
              <a:fillRect/>
            </a:stretch>
          </p:blipFill>
          <p:spPr>
            <a:xfrm>
              <a:off x="2703195" y="86439"/>
              <a:ext cx="4997767" cy="1092279"/>
            </a:xfrm>
            <a:prstGeom prst="rect">
              <a:avLst/>
            </a:prstGeom>
          </p:spPr>
        </p:pic>
        <p:pic>
          <p:nvPicPr>
            <p:cNvPr id="2097192" name="object 6"/>
            <p:cNvPicPr>
              <a:picLocks/>
            </p:cNvPicPr>
            <p:nvPr/>
          </p:nvPicPr>
          <p:blipFill>
            <a:blip r:embed="rId4" cstate="print"/>
            <a:stretch>
              <a:fillRect/>
            </a:stretch>
          </p:blipFill>
          <p:spPr>
            <a:xfrm>
              <a:off x="2828925" y="243549"/>
              <a:ext cx="4585268" cy="522565"/>
            </a:xfrm>
            <a:prstGeom prst="rect">
              <a:avLst/>
            </a:prstGeom>
          </p:spPr>
        </p:pic>
        <p:sp>
          <p:nvSpPr>
            <p:cNvPr id="1048646"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47" name="TextBox 6"/>
          <p:cNvSpPr txBox="1"/>
          <p:nvPr/>
        </p:nvSpPr>
        <p:spPr>
          <a:xfrm>
            <a:off x="4501266" y="347962"/>
            <a:ext cx="2949846"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Expected Outputs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48" name="Rectangle 7"/>
          <p:cNvSpPr/>
          <p:nvPr/>
        </p:nvSpPr>
        <p:spPr>
          <a:xfrm>
            <a:off x="8190242" y="2397256"/>
            <a:ext cx="1549228" cy="36023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49" name="TextBox 10"/>
          <p:cNvSpPr txBox="1"/>
          <p:nvPr/>
        </p:nvSpPr>
        <p:spPr>
          <a:xfrm>
            <a:off x="822745" y="2136338"/>
            <a:ext cx="4365169" cy="3323987"/>
          </a:xfrm>
          <a:prstGeom prst="rect">
            <a:avLst/>
          </a:prstGeom>
          <a:noFill/>
        </p:spPr>
        <p:txBody>
          <a:bodyPr wrap="none" rtlCol="0">
            <a:spAutoFit/>
          </a:bodyPr>
          <a:lstStyle/>
          <a:p>
            <a:pPr marL="285750" lvl="0" indent="-285750">
              <a:buFont typeface="Arial" panose="020B0604020202020204" pitchFamily="34" charset="0"/>
              <a:buChar char="•"/>
            </a:pPr>
            <a:r>
              <a:rPr lang="en-US" sz="2400"/>
              <a:t>Display Matrix A </a:t>
            </a:r>
          </a:p>
          <a:p>
            <a:pPr marL="285750" lvl="0" indent="-285750">
              <a:buFont typeface="Arial" panose="020B0604020202020204" pitchFamily="34" charset="0"/>
              <a:buChar char="•"/>
            </a:pPr>
            <a:r>
              <a:rPr lang="en-US" sz="2400"/>
              <a:t>Display Matrix B </a:t>
            </a:r>
          </a:p>
          <a:p>
            <a:pPr marL="285750" lvl="0" indent="-285750">
              <a:buFont typeface="Arial" panose="020B0604020202020204" pitchFamily="34" charset="0"/>
              <a:buChar char="•"/>
            </a:pPr>
            <a:r>
              <a:rPr lang="en-US" sz="2400"/>
              <a:t>Matrix Multiplication Result </a:t>
            </a:r>
          </a:p>
          <a:p>
            <a:pPr marL="285750" lvl="0" indent="-285750">
              <a:buFont typeface="Arial" panose="020B0604020202020204" pitchFamily="34" charset="0"/>
              <a:buChar char="•"/>
            </a:pPr>
            <a:r>
              <a:rPr lang="en-US" sz="2400"/>
              <a:t>Matrix Addition Result </a:t>
            </a:r>
          </a:p>
          <a:p>
            <a:pPr marL="285750" lvl="0" indent="-285750">
              <a:buFont typeface="Arial" panose="020B0604020202020204" pitchFamily="34" charset="0"/>
              <a:buChar char="•"/>
            </a:pPr>
            <a:r>
              <a:rPr lang="en-US" sz="2400"/>
              <a:t>Matrix Transpose </a:t>
            </a:r>
          </a:p>
          <a:p>
            <a:pPr marL="285750" lvl="0" indent="-285750">
              <a:buFont typeface="Arial" panose="020B0604020202020204" pitchFamily="34" charset="0"/>
              <a:buChar char="•"/>
            </a:pPr>
            <a:r>
              <a:rPr lang="en-US" sz="2400"/>
              <a:t>Dimension Validation Message </a:t>
            </a:r>
          </a:p>
          <a:p>
            <a:pPr marL="285750" lvl="0" indent="-285750">
              <a:buFont typeface="Arial" panose="020B0604020202020204" pitchFamily="34" charset="0"/>
              <a:buChar char="•"/>
            </a:pPr>
            <a:r>
              <a:rPr lang="en-US" sz="2400"/>
              <a:t>Invalid Operation Message </a:t>
            </a:r>
          </a:p>
          <a:p>
            <a:pPr marL="285750" lvl="0" indent="-285750">
              <a:buFont typeface="Arial" panose="020B0604020202020204" pitchFamily="34" charset="0"/>
              <a:buChar char="•"/>
            </a:pPr>
            <a:r>
              <a:rPr lang="en-US" sz="2400"/>
              <a:t>Final Matrix Result </a:t>
            </a:r>
          </a:p>
          <a:p>
            <a:endParaRPr lang="en-US"/>
          </a:p>
        </p:txBody>
      </p:sp>
      <p:pic>
        <p:nvPicPr>
          <p:cNvPr id="2097193" name="Picture 13"/>
          <p:cNvPicPr>
            <a:picLocks noChangeAspect="1"/>
          </p:cNvPicPr>
          <p:nvPr/>
        </p:nvPicPr>
        <p:blipFill>
          <a:blip r:embed="rId5"/>
          <a:stretch>
            <a:fillRect/>
          </a:stretch>
        </p:blipFill>
        <p:spPr>
          <a:xfrm>
            <a:off x="5187914" y="2397256"/>
            <a:ext cx="3805332" cy="3203138"/>
          </a:xfrm>
          <a:prstGeom prst="rect">
            <a:avLst/>
          </a:prstGeom>
        </p:spPr>
      </p:pic>
      <p:pic>
        <p:nvPicPr>
          <p:cNvPr id="2097194" name="Picture 15"/>
          <p:cNvPicPr>
            <a:picLocks noChangeAspect="1"/>
          </p:cNvPicPr>
          <p:nvPr/>
        </p:nvPicPr>
        <p:blipFill>
          <a:blip r:embed="rId6"/>
          <a:stretch>
            <a:fillRect/>
          </a:stretch>
        </p:blipFill>
        <p:spPr>
          <a:xfrm>
            <a:off x="8993246" y="462955"/>
            <a:ext cx="2907687" cy="5172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5" name="Picture 3"/>
          <p:cNvPicPr>
            <a:picLocks noChangeAspect="1"/>
          </p:cNvPicPr>
          <p:nvPr/>
        </p:nvPicPr>
        <p:blipFill>
          <a:blip r:embed="rId2"/>
          <a:stretch>
            <a:fillRect/>
          </a:stretch>
        </p:blipFill>
        <p:spPr>
          <a:xfrm>
            <a:off x="3810000" y="0"/>
            <a:ext cx="457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extBox 1"/>
          <p:cNvSpPr txBox="1"/>
          <p:nvPr/>
        </p:nvSpPr>
        <p:spPr>
          <a:xfrm>
            <a:off x="926577" y="1595021"/>
            <a:ext cx="4530664" cy="4062651"/>
          </a:xfrm>
          <a:prstGeom prst="rect">
            <a:avLst/>
          </a:prstGeom>
          <a:noFill/>
        </p:spPr>
        <p:txBody>
          <a:bodyPr wrap="none" rtlCol="0">
            <a:spAutoFit/>
          </a:bodyPr>
          <a:lstStyle/>
          <a:p>
            <a:r>
              <a:rPr lang="en-US" sz="2400" b="1"/>
              <a:t>Member 1 — Team Lead</a:t>
            </a:r>
            <a:endParaRPr lang="en-US" sz="2400"/>
          </a:p>
          <a:p>
            <a:pPr lvl="0"/>
            <a:r>
              <a:rPr lang="en-US" sz="2400"/>
              <a:t>Overall project coordination </a:t>
            </a:r>
          </a:p>
          <a:p>
            <a:pPr lvl="0"/>
            <a:r>
              <a:rPr lang="en-US" sz="2400"/>
              <a:t>System structure and module flow </a:t>
            </a:r>
          </a:p>
          <a:p>
            <a:pPr lvl="0"/>
            <a:r>
              <a:rPr lang="en-US" sz="2400"/>
              <a:t>Matrix input and display </a:t>
            </a:r>
          </a:p>
          <a:p>
            <a:pPr lvl="0"/>
            <a:r>
              <a:rPr lang="en-US" sz="2400"/>
              <a:t>Module integration   </a:t>
            </a:r>
          </a:p>
          <a:p>
            <a:pPr lvl="0"/>
            <a:endParaRPr lang="en-US" sz="2400"/>
          </a:p>
          <a:p>
            <a:r>
              <a:rPr lang="en-US" sz="2400" b="1"/>
              <a:t>Member 2 — Matrix Operations</a:t>
            </a:r>
            <a:endParaRPr lang="en-US" sz="2400"/>
          </a:p>
          <a:p>
            <a:pPr lvl="0"/>
            <a:r>
              <a:rPr lang="en-US" sz="2400"/>
              <a:t>Matrix addition </a:t>
            </a:r>
          </a:p>
          <a:p>
            <a:pPr lvl="0"/>
            <a:r>
              <a:rPr lang="en-US" sz="2400"/>
              <a:t>Matrix multiplication </a:t>
            </a:r>
          </a:p>
          <a:p>
            <a:pPr lvl="0"/>
            <a:r>
              <a:rPr lang="en-US" sz="2400"/>
              <a:t>Operation functions </a:t>
            </a:r>
          </a:p>
          <a:p>
            <a:endParaRPr lang="en-IN"/>
          </a:p>
        </p:txBody>
      </p:sp>
      <p:grpSp>
        <p:nvGrpSpPr>
          <p:cNvPr id="63" name="object 3"/>
          <p:cNvGrpSpPr/>
          <p:nvPr/>
        </p:nvGrpSpPr>
        <p:grpSpPr>
          <a:xfrm>
            <a:off x="3424237" y="165549"/>
            <a:ext cx="5103904" cy="1198311"/>
            <a:chOff x="2648188" y="47148"/>
            <a:chExt cx="5103904" cy="1198311"/>
          </a:xfrm>
        </p:grpSpPr>
        <p:pic>
          <p:nvPicPr>
            <p:cNvPr id="2097196" name="object 4"/>
            <p:cNvPicPr>
              <a:picLocks/>
            </p:cNvPicPr>
            <p:nvPr/>
          </p:nvPicPr>
          <p:blipFill>
            <a:blip r:embed="rId2" cstate="print"/>
            <a:stretch>
              <a:fillRect/>
            </a:stretch>
          </p:blipFill>
          <p:spPr>
            <a:xfrm>
              <a:off x="2648188" y="47148"/>
              <a:ext cx="5103904" cy="1198311"/>
            </a:xfrm>
            <a:prstGeom prst="rect">
              <a:avLst/>
            </a:prstGeom>
          </p:spPr>
        </p:pic>
        <p:pic>
          <p:nvPicPr>
            <p:cNvPr id="2097197" name="object 5"/>
            <p:cNvPicPr>
              <a:picLocks/>
            </p:cNvPicPr>
            <p:nvPr/>
          </p:nvPicPr>
          <p:blipFill>
            <a:blip r:embed="rId3" cstate="print"/>
            <a:stretch>
              <a:fillRect/>
            </a:stretch>
          </p:blipFill>
          <p:spPr>
            <a:xfrm>
              <a:off x="2703195" y="86439"/>
              <a:ext cx="4997767" cy="1092279"/>
            </a:xfrm>
            <a:prstGeom prst="rect">
              <a:avLst/>
            </a:prstGeom>
          </p:spPr>
        </p:pic>
        <p:pic>
          <p:nvPicPr>
            <p:cNvPr id="2097198" name="object 6"/>
            <p:cNvPicPr>
              <a:picLocks/>
            </p:cNvPicPr>
            <p:nvPr/>
          </p:nvPicPr>
          <p:blipFill>
            <a:blip r:embed="rId4" cstate="print"/>
            <a:stretch>
              <a:fillRect/>
            </a:stretch>
          </p:blipFill>
          <p:spPr>
            <a:xfrm>
              <a:off x="2828925" y="243549"/>
              <a:ext cx="4585268" cy="522565"/>
            </a:xfrm>
            <a:prstGeom prst="rect">
              <a:avLst/>
            </a:prstGeom>
          </p:spPr>
        </p:pic>
        <p:sp>
          <p:nvSpPr>
            <p:cNvPr id="1048651"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52" name="TextBox 7"/>
          <p:cNvSpPr txBox="1"/>
          <p:nvPr/>
        </p:nvSpPr>
        <p:spPr>
          <a:xfrm>
            <a:off x="4259627" y="330391"/>
            <a:ext cx="3275961"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Team Contributions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53" name="TextBox 8"/>
          <p:cNvSpPr txBox="1"/>
          <p:nvPr/>
        </p:nvSpPr>
        <p:spPr>
          <a:xfrm>
            <a:off x="5897607" y="1595021"/>
            <a:ext cx="4475649" cy="4524315"/>
          </a:xfrm>
          <a:prstGeom prst="rect">
            <a:avLst/>
          </a:prstGeom>
          <a:noFill/>
        </p:spPr>
        <p:txBody>
          <a:bodyPr wrap="none" rtlCol="0">
            <a:spAutoFit/>
          </a:bodyPr>
          <a:lstStyle/>
          <a:p>
            <a:r>
              <a:rPr lang="en-US" sz="2400" b="1"/>
              <a:t>Member 3 — Validation &amp; Testing</a:t>
            </a:r>
            <a:endParaRPr lang="en-US" sz="2400"/>
          </a:p>
          <a:p>
            <a:pPr lvl="0"/>
            <a:r>
              <a:rPr lang="en-US" sz="2400"/>
              <a:t>Dimension validation </a:t>
            </a:r>
          </a:p>
          <a:p>
            <a:pPr lvl="0"/>
            <a:r>
              <a:rPr lang="en-US" sz="2400"/>
              <a:t>Error handling </a:t>
            </a:r>
          </a:p>
          <a:p>
            <a:pPr lvl="0"/>
            <a:r>
              <a:rPr lang="en-US" sz="2400"/>
              <a:t>Sample-data testing </a:t>
            </a:r>
          </a:p>
          <a:p>
            <a:pPr lvl="0"/>
            <a:r>
              <a:rPr lang="en-US" sz="2400"/>
              <a:t>Debugging </a:t>
            </a:r>
          </a:p>
          <a:p>
            <a:pPr lvl="0"/>
            <a:endParaRPr lang="en-US" sz="2400"/>
          </a:p>
          <a:p>
            <a:r>
              <a:rPr lang="en-US" sz="2400" b="1"/>
              <a:t>Member 4 — Documentation</a:t>
            </a:r>
            <a:endParaRPr lang="en-US" sz="2400"/>
          </a:p>
          <a:p>
            <a:pPr lvl="0"/>
            <a:r>
              <a:rPr lang="en-US" sz="2400"/>
              <a:t>Project documentation </a:t>
            </a:r>
          </a:p>
          <a:p>
            <a:pPr lvl="0"/>
            <a:r>
              <a:rPr lang="en-US" sz="2400"/>
              <a:t>PPT preparation </a:t>
            </a:r>
          </a:p>
          <a:p>
            <a:pPr lvl="0"/>
            <a:r>
              <a:rPr lang="en-US" sz="2400"/>
              <a:t>Flowchart </a:t>
            </a:r>
          </a:p>
          <a:p>
            <a:pPr lvl="0"/>
            <a:r>
              <a:rPr lang="en-US" sz="2400"/>
              <a:t>Testing results</a:t>
            </a:r>
          </a:p>
          <a:p>
            <a:endParaRPr lang="en-IN"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object 3"/>
          <p:cNvGrpSpPr/>
          <p:nvPr/>
        </p:nvGrpSpPr>
        <p:grpSpPr>
          <a:xfrm>
            <a:off x="3424237" y="165549"/>
            <a:ext cx="5103904" cy="1198311"/>
            <a:chOff x="2648188" y="47148"/>
            <a:chExt cx="5103904" cy="1198311"/>
          </a:xfrm>
        </p:grpSpPr>
        <p:pic>
          <p:nvPicPr>
            <p:cNvPr id="2097199" name="object 4"/>
            <p:cNvPicPr>
              <a:picLocks/>
            </p:cNvPicPr>
            <p:nvPr/>
          </p:nvPicPr>
          <p:blipFill>
            <a:blip r:embed="rId2" cstate="print"/>
            <a:stretch>
              <a:fillRect/>
            </a:stretch>
          </p:blipFill>
          <p:spPr>
            <a:xfrm>
              <a:off x="2648188" y="47148"/>
              <a:ext cx="5103904" cy="1198311"/>
            </a:xfrm>
            <a:prstGeom prst="rect">
              <a:avLst/>
            </a:prstGeom>
          </p:spPr>
        </p:pic>
        <p:pic>
          <p:nvPicPr>
            <p:cNvPr id="2097200" name="object 5"/>
            <p:cNvPicPr>
              <a:picLocks/>
            </p:cNvPicPr>
            <p:nvPr/>
          </p:nvPicPr>
          <p:blipFill>
            <a:blip r:embed="rId3" cstate="print"/>
            <a:stretch>
              <a:fillRect/>
            </a:stretch>
          </p:blipFill>
          <p:spPr>
            <a:xfrm>
              <a:off x="2703195" y="86439"/>
              <a:ext cx="4997767" cy="1092279"/>
            </a:xfrm>
            <a:prstGeom prst="rect">
              <a:avLst/>
            </a:prstGeom>
          </p:spPr>
        </p:pic>
        <p:pic>
          <p:nvPicPr>
            <p:cNvPr id="2097201" name="object 6"/>
            <p:cNvPicPr>
              <a:picLocks/>
            </p:cNvPicPr>
            <p:nvPr/>
          </p:nvPicPr>
          <p:blipFill>
            <a:blip r:embed="rId4" cstate="print"/>
            <a:stretch>
              <a:fillRect/>
            </a:stretch>
          </p:blipFill>
          <p:spPr>
            <a:xfrm>
              <a:off x="2828925" y="243549"/>
              <a:ext cx="4585268" cy="522565"/>
            </a:xfrm>
            <a:prstGeom prst="rect">
              <a:avLst/>
            </a:prstGeom>
          </p:spPr>
        </p:pic>
        <p:sp>
          <p:nvSpPr>
            <p:cNvPr id="1048654"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55" name="TextBox 6"/>
          <p:cNvSpPr txBox="1"/>
          <p:nvPr/>
        </p:nvSpPr>
        <p:spPr>
          <a:xfrm>
            <a:off x="5025447" y="363193"/>
            <a:ext cx="1901483"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56" name="TextBox 7"/>
          <p:cNvSpPr txBox="1"/>
          <p:nvPr/>
        </p:nvSpPr>
        <p:spPr>
          <a:xfrm>
            <a:off x="588220" y="1520970"/>
            <a:ext cx="11287125" cy="3416320"/>
          </a:xfrm>
          <a:prstGeom prst="rect">
            <a:avLst/>
          </a:prstGeom>
          <a:noFill/>
        </p:spPr>
        <p:txBody>
          <a:bodyPr wrap="square" rtlCol="0">
            <a:spAutoFit/>
          </a:bodyPr>
          <a:lstStyle/>
          <a:p>
            <a:r>
              <a:rPr lang="en-US" sz="2400"/>
              <a:t>The Matrix Operations System successfully provides a simple and efficient way to perform matrix operations using C++. The system supports matrix input, addition, multiplication and transpose operations with proper dimension validation.</a:t>
            </a:r>
          </a:p>
          <a:p>
            <a:r>
              <a:rPr lang="en-US" sz="2400"/>
              <a:t>The project demonstrates the practical use of </a:t>
            </a:r>
            <a:r>
              <a:rPr lang="en-US" sz="2400" b="1"/>
              <a:t>2D arrays, functions, loops, switch-case and conditional statements</a:t>
            </a:r>
            <a:r>
              <a:rPr lang="en-US" sz="2400"/>
              <a:t>. It reduces manual calculation effort and helps users obtain accurate matrix results.</a:t>
            </a:r>
          </a:p>
          <a:p>
            <a:r>
              <a:rPr lang="en-US" sz="2400"/>
              <a:t>Overall, this project helped us apply C++ programming concepts to a practical mathematical application.</a:t>
            </a:r>
          </a:p>
          <a:p>
            <a:pPr algn="just"/>
            <a:endParaRPr lang="en-IN"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object 3"/>
          <p:cNvGrpSpPr/>
          <p:nvPr/>
        </p:nvGrpSpPr>
        <p:grpSpPr>
          <a:xfrm>
            <a:off x="3424237" y="-155463"/>
            <a:ext cx="5103904" cy="1198311"/>
            <a:chOff x="2648188" y="47148"/>
            <a:chExt cx="5103904" cy="1198311"/>
          </a:xfrm>
        </p:grpSpPr>
        <p:pic>
          <p:nvPicPr>
            <p:cNvPr id="2097202" name="object 4"/>
            <p:cNvPicPr>
              <a:picLocks/>
            </p:cNvPicPr>
            <p:nvPr/>
          </p:nvPicPr>
          <p:blipFill>
            <a:blip r:embed="rId2" cstate="print"/>
            <a:stretch>
              <a:fillRect/>
            </a:stretch>
          </p:blipFill>
          <p:spPr>
            <a:xfrm>
              <a:off x="2648188" y="47148"/>
              <a:ext cx="5103904" cy="1198311"/>
            </a:xfrm>
            <a:prstGeom prst="rect">
              <a:avLst/>
            </a:prstGeom>
          </p:spPr>
        </p:pic>
        <p:pic>
          <p:nvPicPr>
            <p:cNvPr id="2097203" name="object 5"/>
            <p:cNvPicPr>
              <a:picLocks/>
            </p:cNvPicPr>
            <p:nvPr/>
          </p:nvPicPr>
          <p:blipFill>
            <a:blip r:embed="rId3" cstate="print"/>
            <a:stretch>
              <a:fillRect/>
            </a:stretch>
          </p:blipFill>
          <p:spPr>
            <a:xfrm>
              <a:off x="2703195" y="86439"/>
              <a:ext cx="4997767" cy="1092279"/>
            </a:xfrm>
            <a:prstGeom prst="rect">
              <a:avLst/>
            </a:prstGeom>
          </p:spPr>
        </p:pic>
        <p:pic>
          <p:nvPicPr>
            <p:cNvPr id="2097204" name="object 6"/>
            <p:cNvPicPr>
              <a:picLocks/>
            </p:cNvPicPr>
            <p:nvPr/>
          </p:nvPicPr>
          <p:blipFill>
            <a:blip r:embed="rId4" cstate="print"/>
            <a:stretch>
              <a:fillRect/>
            </a:stretch>
          </p:blipFill>
          <p:spPr>
            <a:xfrm>
              <a:off x="2828925" y="243549"/>
              <a:ext cx="4585268" cy="522565"/>
            </a:xfrm>
            <a:prstGeom prst="rect">
              <a:avLst/>
            </a:prstGeom>
          </p:spPr>
        </p:pic>
        <p:sp>
          <p:nvSpPr>
            <p:cNvPr id="104865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48658" name="TextBox 6"/>
          <p:cNvSpPr txBox="1"/>
          <p:nvPr/>
        </p:nvSpPr>
        <p:spPr>
          <a:xfrm>
            <a:off x="5047890" y="26950"/>
            <a:ext cx="1856598" cy="523220"/>
          </a:xfrm>
          <a:prstGeom prst="rect">
            <a:avLst/>
          </a:prstGeom>
          <a:noFill/>
        </p:spPr>
        <p:txBody>
          <a:bodyPr wrap="none" rtlCol="0">
            <a:spAutoFit/>
          </a:bodyPr>
          <a:lstStyle/>
          <a:p>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lang="en-IN"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59" name="Rectangle 1"/>
          <p:cNvSpPr>
            <a:spLocks noChangeArrowheads="1"/>
          </p:cNvSpPr>
          <p:nvPr/>
        </p:nvSpPr>
        <p:spPr bwMode="auto">
          <a:xfrm rot="10800000" flipV="1">
            <a:off x="630654" y="1324003"/>
            <a:ext cx="12392025" cy="378565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Aditya University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B.Tech</a:t>
            </a:r>
            <a:r>
              <a:rPr lang="en-US" altLang="en-US" sz="2400" dirty="0">
                <a:latin typeface="Times New Roman" panose="02020603050405020304" pitchFamily="18" charset="0"/>
                <a:cs typeface="Times New Roman" panose="02020603050405020304" pitchFamily="18" charset="0"/>
              </a:rPr>
              <a:t> Curriculum 2025 – Object Oriented Programming through C++</a:t>
            </a:r>
          </a:p>
          <a:p>
            <a:pPr lvl="0" eaLnBrk="0" fontAlgn="base" hangingPunct="0">
              <a:spcBef>
                <a:spcPct val="0"/>
              </a:spcBef>
              <a:spcAft>
                <a:spcPct val="0"/>
              </a:spcAft>
            </a:pPr>
            <a:endParaRPr lang="en-US" altLang="en-US" sz="2400"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Bjarne Stroustrup</a:t>
            </a:r>
            <a:r>
              <a:rPr lang="en-US" altLang="en-US" sz="2400" dirty="0">
                <a:latin typeface="Times New Roman" panose="02020603050405020304" pitchFamily="18" charset="0"/>
                <a:cs typeface="Times New Roman" panose="02020603050405020304" pitchFamily="18" charset="0"/>
              </a:rPr>
              <a:t>, The C++ Programming Language, 4th Edition, Addison-Wesley.</a:t>
            </a:r>
          </a:p>
          <a:p>
            <a:pPr lvl="0" eaLnBrk="0" fontAlgn="base" hangingPunct="0">
              <a:spcBef>
                <a:spcPct val="0"/>
              </a:spcBef>
              <a:spcAft>
                <a:spcPct val="0"/>
              </a:spcAft>
            </a:pP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Robert Lafore</a:t>
            </a:r>
            <a:r>
              <a:rPr lang="en-US" altLang="en-US" sz="2400" dirty="0">
                <a:latin typeface="Times New Roman" panose="02020603050405020304" pitchFamily="18" charset="0"/>
                <a:cs typeface="Times New Roman" panose="02020603050405020304" pitchFamily="18" charset="0"/>
              </a:rPr>
              <a:t>, Object-Oriented Programming in C++, 4th Edition, Sams Publishing. </a:t>
            </a:r>
          </a:p>
          <a:p>
            <a:pPr lvl="0" eaLnBrk="0" fontAlgn="base" hangingPunct="0">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Herbert Schildt</a:t>
            </a:r>
            <a:r>
              <a:rPr lang="en-US" altLang="en-US" sz="2400" dirty="0">
                <a:latin typeface="Times New Roman" panose="02020603050405020304" pitchFamily="18" charset="0"/>
                <a:cs typeface="Times New Roman" panose="02020603050405020304" pitchFamily="18" charset="0"/>
              </a:rPr>
              <a:t>, C++: The Complete Reference, McGraw-Hill Education. </a:t>
            </a:r>
          </a:p>
          <a:p>
            <a:pPr lvl="0" eaLnBrk="0" fontAlgn="base" hangingPunct="0">
              <a:spcBef>
                <a:spcPct val="0"/>
              </a:spcBef>
              <a:spcAft>
                <a:spcPct val="0"/>
              </a:spcAft>
            </a:pP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C++ Reference</a:t>
            </a:r>
            <a:r>
              <a:rPr lang="en-US" altLang="en-US" sz="2400" dirty="0">
                <a:latin typeface="Times New Roman" panose="02020603050405020304" pitchFamily="18" charset="0"/>
                <a:cs typeface="Times New Roman" panose="02020603050405020304" pitchFamily="18" charset="0"/>
              </a:rPr>
              <a:t>, Standard C++ Library Documentation — </a:t>
            </a:r>
            <a:r>
              <a:rPr lang="en-US" altLang="en-US" sz="2400" dirty="0">
                <a:latin typeface="Times New Roman" panose="02020603050405020304" pitchFamily="18" charset="0"/>
                <a:cs typeface="Times New Roman" panose="02020603050405020304" pitchFamily="18" charset="0"/>
                <a:hlinkClick r:id="rId5"/>
              </a:rPr>
              <a:t>cppreference.com</a:t>
            </a: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extBox 1"/>
          <p:cNvSpPr txBox="1"/>
          <p:nvPr/>
        </p:nvSpPr>
        <p:spPr>
          <a:xfrm>
            <a:off x="4320514" y="2814638"/>
            <a:ext cx="3225114" cy="923330"/>
          </a:xfrm>
          <a:prstGeom prst="rect">
            <a:avLst/>
          </a:prstGeom>
          <a:noFill/>
        </p:spPr>
        <p:txBody>
          <a:bodyPr wrap="none" rtlCol="0">
            <a:spAutoFit/>
          </a:bodyPr>
          <a:lstStyle/>
          <a:p>
            <a:r>
              <a:rPr lang="en-US" sz="5400" u="sng">
                <a:latin typeface="Times New Roman" panose="02020603050405020304" pitchFamily="18" charset="0"/>
                <a:cs typeface="Times New Roman" panose="02020603050405020304" pitchFamily="18" charset="0"/>
              </a:rPr>
              <a:t>Thank You</a:t>
            </a:r>
            <a:endParaRPr lang="en-IN" sz="5400" u="sng">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990</Words>
  <Application>Microsoft Office PowerPoint</Application>
  <PresentationFormat>Widescreen</PresentationFormat>
  <Paragraphs>211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 Light</vt:lpstr>
      <vt:lpstr>Times New Roman</vt:lpstr>
      <vt:lpstr>Bookman Old Style</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bharath nallagachu</cp:lastModifiedBy>
  <cp:revision>4</cp:revision>
  <dcterms:created xsi:type="dcterms:W3CDTF">2025-05-29T02:02:32Z</dcterms:created>
  <dcterms:modified xsi:type="dcterms:W3CDTF">2026-09-29T01:48:30Z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2b5a0656e1a34af286120c7e28dc84ed_23</vt:lpwstr>
  </property>
</Properties>
</file>